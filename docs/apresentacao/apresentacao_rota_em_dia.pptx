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JulianaBallin/TransitTrace/blob/main/transporte_fretado_rota_em_dia.ipynb" TargetMode="External"/><Relationship Id="rId3" Type="http://schemas.openxmlformats.org/officeDocument/2006/relationships/hyperlink" Target="https://github.com/JulianaBallin/TransitTrace/blob/main/docs/relatorio/relatorio_tecnico_rota_em_dia.pdf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FFF8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841248"/>
            <a:ext cx="1143000" cy="1143000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51592" y="1033271"/>
            <a:ext cx="82296" cy="438912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10469880" y="1371600"/>
            <a:ext cx="329184" cy="82296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ardrop 8"/>
          <p:cNvSpPr/>
          <p:nvPr/>
        </p:nvSpPr>
        <p:spPr>
          <a:xfrm rot="1200000">
            <a:off x="1874519" y="5349240"/>
            <a:ext cx="384048" cy="530352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 rot="1200000">
            <a:off x="2331720" y="5696712"/>
            <a:ext cx="301752" cy="420624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46920" y="5230368"/>
            <a:ext cx="1664208" cy="859536"/>
          </a:xfrm>
          <a:prstGeom prst="roundRect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12096" y="5394960"/>
            <a:ext cx="1115568" cy="301752"/>
          </a:xfrm>
          <a:prstGeom prst="rect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0295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-rota-em-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546770"/>
            <a:ext cx="4892040" cy="24751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1170432"/>
            <a:ext cx="6400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4200" b="1">
                <a:solidFill>
                  <a:srgbClr val="005A67"/>
                </a:solidFill>
                <a:latin typeface="Noto Sans"/>
              </a:defRPr>
            </a:pPr>
            <a:r>
              <a:t>Rota em 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956816"/>
            <a:ext cx="621792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0">
                <a:solidFill>
                  <a:srgbClr val="17343A"/>
                </a:solidFill>
                <a:latin typeface="Noto Sans"/>
              </a:defRPr>
            </a:pPr>
            <a:r>
              <a:t>Por que os ônibus fretados</a:t>
            </a:r>
            <a:br/>
            <a:r>
              <a:t>estão chegando atrasados?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328416"/>
            <a:ext cx="6126480" cy="1225296"/>
          </a:xfrm>
          <a:prstGeom prst="roundRect">
            <a:avLst/>
          </a:prstGeom>
          <a:solidFill>
            <a:srgbClr val="65C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3584448"/>
            <a:ext cx="5577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05A67"/>
                </a:solidFill>
                <a:latin typeface="Noto Sans"/>
              </a:defRPr>
            </a:pPr>
            <a:r>
              <a:t>Fundamentos de IA e Programação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968496"/>
            <a:ext cx="5577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7343A"/>
                </a:solidFill>
                <a:latin typeface="Noto Sans"/>
              </a:defRPr>
            </a:pPr>
            <a:r>
              <a:t>Projeto Integrador · Outubro de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6016752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50" b="1">
                <a:solidFill>
                  <a:srgbClr val="005A67"/>
                </a:solidFill>
                <a:latin typeface="Noto Sans"/>
              </a:defRPr>
            </a:pPr>
            <a:r>
              <a:t>Juliana Ballin Lima  ·  Fernanda de Oliveira da Costa  ·  Pedro Henrique Oliveira Dias</a:t>
            </a:r>
          </a:p>
        </p:txBody>
      </p:sp>
      <p:pic>
        <p:nvPicPr>
          <p:cNvPr id="22" name="Picture 21" descr="logo-u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987" y="182880"/>
            <a:ext cx="1046561" cy="530352"/>
          </a:xfrm>
          <a:prstGeom prst="rect">
            <a:avLst/>
          </a:prstGeom>
        </p:spPr>
      </p:pic>
      <p:pic>
        <p:nvPicPr>
          <p:cNvPr id="23" name="Picture 22" descr="logo-siala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42132"/>
            <a:ext cx="859536" cy="61184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1137392" y="6428232"/>
            <a:ext cx="713232" cy="2560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3968" y="645109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05A67"/>
                </a:solidFill>
                <a:latin typeface="Noto Sans"/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C3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841248"/>
            <a:ext cx="1143000" cy="1143000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51592" y="1033271"/>
            <a:ext cx="82296" cy="438912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10469880" y="1371600"/>
            <a:ext cx="329184" cy="82296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ardrop 8"/>
          <p:cNvSpPr/>
          <p:nvPr/>
        </p:nvSpPr>
        <p:spPr>
          <a:xfrm rot="1200000">
            <a:off x="1874519" y="5349240"/>
            <a:ext cx="384048" cy="530352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 rot="1200000">
            <a:off x="2331720" y="5696712"/>
            <a:ext cx="301752" cy="420624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46920" y="5230368"/>
            <a:ext cx="1664208" cy="859536"/>
          </a:xfrm>
          <a:prstGeom prst="roundRect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12096" y="5394960"/>
            <a:ext cx="1115568" cy="301752"/>
          </a:xfrm>
          <a:prstGeom prst="rect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0295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005A67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005A67"/>
                </a:solidFill>
                <a:latin typeface="Noto Sans"/>
              </a:defRPr>
            </a:pPr>
            <a:r>
              <a:t>Sumário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25296" y="2185415"/>
            <a:ext cx="2221992" cy="1033273"/>
          </a:xfrm>
          <a:prstGeom prst="line">
            <a:avLst/>
          </a:prstGeom>
          <a:ln w="63500">
            <a:solidFill>
              <a:srgbClr val="005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447288" y="2185415"/>
            <a:ext cx="2240280" cy="1033273"/>
          </a:xfrm>
          <a:prstGeom prst="line">
            <a:avLst/>
          </a:prstGeom>
          <a:ln w="63500">
            <a:solidFill>
              <a:srgbClr val="005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87568" y="2185415"/>
            <a:ext cx="2240280" cy="1033273"/>
          </a:xfrm>
          <a:prstGeom prst="line">
            <a:avLst/>
          </a:prstGeom>
          <a:ln w="63500">
            <a:solidFill>
              <a:srgbClr val="005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927848" y="2185415"/>
            <a:ext cx="2231136" cy="1033273"/>
          </a:xfrm>
          <a:prstGeom prst="line">
            <a:avLst/>
          </a:prstGeom>
          <a:ln w="63500">
            <a:solidFill>
              <a:srgbClr val="005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14400" y="1874519"/>
            <a:ext cx="621792" cy="621792"/>
          </a:xfrm>
          <a:prstGeom prst="ellipse">
            <a:avLst/>
          </a:prstGeom>
          <a:solidFill>
            <a:srgbClr val="F06449"/>
          </a:solidFill>
          <a:ln w="2540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1975103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000" b="1">
                <a:solidFill>
                  <a:srgbClr val="17343A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1115568"/>
            <a:ext cx="1572768" cy="950976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125272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005A67"/>
                </a:solidFill>
                <a:latin typeface="Noto Sans"/>
              </a:defRPr>
            </a:pPr>
            <a:r>
              <a:t>O Problema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1591056"/>
            <a:ext cx="138988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80" b="0">
                <a:solidFill>
                  <a:srgbClr val="17343A"/>
                </a:solidFill>
                <a:latin typeface="Noto Sans"/>
              </a:defRPr>
            </a:pPr>
            <a:r>
              <a:t>Atrasos no transporte</a:t>
            </a:r>
          </a:p>
        </p:txBody>
      </p:sp>
      <p:sp>
        <p:nvSpPr>
          <p:cNvPr id="26" name="Oval 25"/>
          <p:cNvSpPr/>
          <p:nvPr/>
        </p:nvSpPr>
        <p:spPr>
          <a:xfrm>
            <a:off x="3136392" y="2907792"/>
            <a:ext cx="621792" cy="621792"/>
          </a:xfrm>
          <a:prstGeom prst="ellipse">
            <a:avLst/>
          </a:prstGeom>
          <a:solidFill>
            <a:srgbClr val="F6BD38"/>
          </a:solidFill>
          <a:ln w="2540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9544" y="3008376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000" b="1">
                <a:solidFill>
                  <a:srgbClr val="17343A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60904" y="3703320"/>
            <a:ext cx="1572768" cy="950976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52344" y="3840480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005A67"/>
                </a:solidFill>
                <a:latin typeface="Noto Sans"/>
              </a:defRPr>
            </a:pPr>
            <a:r>
              <a:t>As Perguntas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52344" y="4178808"/>
            <a:ext cx="138988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80" b="0">
                <a:solidFill>
                  <a:srgbClr val="17343A"/>
                </a:solidFill>
                <a:latin typeface="Noto Sans"/>
              </a:defRPr>
            </a:pPr>
            <a:r>
              <a:t>Três hipóteses</a:t>
            </a:r>
          </a:p>
        </p:txBody>
      </p:sp>
      <p:sp>
        <p:nvSpPr>
          <p:cNvPr id="31" name="Oval 30"/>
          <p:cNvSpPr/>
          <p:nvPr/>
        </p:nvSpPr>
        <p:spPr>
          <a:xfrm>
            <a:off x="5376672" y="1874519"/>
            <a:ext cx="621792" cy="621792"/>
          </a:xfrm>
          <a:prstGeom prst="ellipse">
            <a:avLst/>
          </a:prstGeom>
          <a:solidFill>
            <a:srgbClr val="37A9E8"/>
          </a:solidFill>
          <a:ln w="2540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9824" y="1975103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000" b="1">
                <a:solidFill>
                  <a:srgbClr val="17343A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01183" y="1115568"/>
            <a:ext cx="1572768" cy="950976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92624" y="125272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005A67"/>
                </a:solidFill>
                <a:latin typeface="Noto Sans"/>
              </a:defRPr>
            </a:pPr>
            <a:r>
              <a:t>O Dataset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1591056"/>
            <a:ext cx="138988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80" b="0">
                <a:solidFill>
                  <a:srgbClr val="17343A"/>
                </a:solidFill>
                <a:latin typeface="Noto Sans"/>
              </a:defRPr>
            </a:pPr>
            <a:r>
              <a:t>2.463 viagens</a:t>
            </a:r>
          </a:p>
        </p:txBody>
      </p:sp>
      <p:sp>
        <p:nvSpPr>
          <p:cNvPr id="36" name="Oval 35"/>
          <p:cNvSpPr/>
          <p:nvPr/>
        </p:nvSpPr>
        <p:spPr>
          <a:xfrm>
            <a:off x="7616952" y="2907792"/>
            <a:ext cx="621792" cy="621792"/>
          </a:xfrm>
          <a:prstGeom prst="ellipse">
            <a:avLst/>
          </a:prstGeom>
          <a:solidFill>
            <a:srgbClr val="F06449"/>
          </a:solidFill>
          <a:ln w="2540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0104" y="3008376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000" b="1">
                <a:solidFill>
                  <a:srgbClr val="17343A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41464" y="3703320"/>
            <a:ext cx="1572768" cy="950976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32904" y="3840480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005A67"/>
                </a:solidFill>
                <a:latin typeface="Noto Sans"/>
              </a:defRPr>
            </a:pPr>
            <a:r>
              <a:t>O Achado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32904" y="4178808"/>
            <a:ext cx="138988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80" b="0">
                <a:solidFill>
                  <a:srgbClr val="17343A"/>
                </a:solidFill>
                <a:latin typeface="Noto Sans"/>
              </a:defRPr>
            </a:pPr>
            <a:r>
              <a:t>R03 e R05 desde 06/04</a:t>
            </a:r>
          </a:p>
        </p:txBody>
      </p:sp>
      <p:sp>
        <p:nvSpPr>
          <p:cNvPr id="41" name="Oval 40"/>
          <p:cNvSpPr/>
          <p:nvPr/>
        </p:nvSpPr>
        <p:spPr>
          <a:xfrm>
            <a:off x="9848088" y="1874519"/>
            <a:ext cx="621792" cy="621792"/>
          </a:xfrm>
          <a:prstGeom prst="ellipse">
            <a:avLst/>
          </a:prstGeom>
          <a:solidFill>
            <a:srgbClr val="FFF8E8"/>
          </a:solidFill>
          <a:ln w="2540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1975103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000" b="1">
                <a:solidFill>
                  <a:srgbClr val="17343A"/>
                </a:solidFill>
                <a:latin typeface="Noto Sans"/>
              </a:defRPr>
            </a:pPr>
            <a:r>
              <a:t>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72600" y="1115568"/>
            <a:ext cx="1572768" cy="950976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125272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005A67"/>
                </a:solidFill>
                <a:latin typeface="Noto Sans"/>
              </a:defRPr>
            </a:pPr>
            <a:r>
              <a:t>Os Entregáveis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1591056"/>
            <a:ext cx="138988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80" b="0">
                <a:solidFill>
                  <a:srgbClr val="17343A"/>
                </a:solidFill>
                <a:latin typeface="Noto Sans"/>
              </a:defRPr>
            </a:pPr>
            <a:r>
              <a:t>Colab e relatório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5074920"/>
            <a:ext cx="6309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005A67"/>
                </a:solidFill>
                <a:latin typeface="Noto Sans"/>
              </a:defRPr>
            </a:pPr>
            <a:r>
              <a:t>Uma Investigação Guiada Pelas Evidências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8280" y="4919472"/>
            <a:ext cx="1499616" cy="899769"/>
          </a:xfrm>
          <a:prstGeom prst="roundRect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278233" y="5061935"/>
            <a:ext cx="1139708" cy="359907"/>
          </a:xfrm>
          <a:prstGeom prst="roundRect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338218" y="5654283"/>
            <a:ext cx="254934" cy="254934"/>
          </a:xfrm>
          <a:prstGeom prst="ellipse">
            <a:avLst/>
          </a:prstGeom>
          <a:solidFill>
            <a:srgbClr val="1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207995" y="5654283"/>
            <a:ext cx="254934" cy="254934"/>
          </a:xfrm>
          <a:prstGeom prst="ellipse">
            <a:avLst/>
          </a:prstGeom>
          <a:solidFill>
            <a:srgbClr val="1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78233" y="5496824"/>
            <a:ext cx="119969" cy="119969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282976" y="5496824"/>
            <a:ext cx="119969" cy="119969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137392" y="6428232"/>
            <a:ext cx="713232" cy="2560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73968" y="645109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05A67"/>
                </a:solidFill>
                <a:latin typeface="Noto Sans"/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64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841248"/>
            <a:ext cx="1143000" cy="1143000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51592" y="1033271"/>
            <a:ext cx="82296" cy="438912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10469880" y="1371600"/>
            <a:ext cx="329184" cy="82296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ardrop 8"/>
          <p:cNvSpPr/>
          <p:nvPr/>
        </p:nvSpPr>
        <p:spPr>
          <a:xfrm rot="1200000">
            <a:off x="1874519" y="5349240"/>
            <a:ext cx="384048" cy="530352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 rot="1200000">
            <a:off x="2331720" y="5696712"/>
            <a:ext cx="301752" cy="420624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46920" y="5230368"/>
            <a:ext cx="1664208" cy="859536"/>
          </a:xfrm>
          <a:prstGeom prst="roundRect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12096" y="5394960"/>
            <a:ext cx="1115568" cy="301752"/>
          </a:xfrm>
          <a:prstGeom prst="rect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0295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7343A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7343A"/>
                </a:solidFill>
                <a:latin typeface="Noto Sans"/>
              </a:defRPr>
            </a:pPr>
            <a:r>
              <a:t>O Problema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1115568"/>
            <a:ext cx="6720840" cy="324612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1444752"/>
            <a:ext cx="6080760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>
                <a:solidFill>
                  <a:srgbClr val="005A67"/>
                </a:solidFill>
                <a:latin typeface="Noto Sans"/>
              </a:defRPr>
            </a:pPr>
            <a:r>
              <a:t>Colaboradores chegam atrasados à linha porque os ônibus fretados não cumprem o horário planejado.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770632"/>
            <a:ext cx="59436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7343A"/>
                </a:solidFill>
                <a:latin typeface="Noto Sans"/>
              </a:defRPr>
            </a:pPr>
            <a:r>
              <a:t>O RH precisa saber se a piora é geral, onde ela se concentra e qual explicação os dados realmente sustentam.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2" y="1188720"/>
            <a:ext cx="1600200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8" y="1307592"/>
            <a:ext cx="134416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005A67"/>
                </a:solidFill>
                <a:latin typeface="Noto Sans"/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8" y="1819656"/>
            <a:ext cx="13441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Rotas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0616" y="1188720"/>
            <a:ext cx="1600200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8632" y="1307592"/>
            <a:ext cx="134416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06449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1819656"/>
            <a:ext cx="13441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Turnos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54112" y="2578608"/>
            <a:ext cx="3346704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2128" y="2697479"/>
            <a:ext cx="309067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005A67"/>
                </a:solidFill>
                <a:latin typeface="Noto Sans"/>
              </a:defRPr>
            </a:pPr>
            <a:r>
              <a:t>≤ 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8" y="3209544"/>
            <a:ext cx="30906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Limite de pontualidade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54112" y="3968496"/>
            <a:ext cx="3346704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8" y="4087368"/>
            <a:ext cx="309067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06449"/>
                </a:solidFill>
                <a:latin typeface="Noto Sans"/>
              </a:defRPr>
            </a:pPr>
            <a:r>
              <a:t>15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4599431"/>
            <a:ext cx="30906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Margem até o início do turno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" y="4882896"/>
            <a:ext cx="1645920" cy="987552"/>
          </a:xfrm>
          <a:prstGeom prst="roundRect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157630" y="5039258"/>
            <a:ext cx="1250899" cy="395020"/>
          </a:xfrm>
          <a:prstGeom prst="roundRect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23467" y="5689396"/>
            <a:ext cx="279806" cy="279806"/>
          </a:xfrm>
          <a:prstGeom prst="ellipse">
            <a:avLst/>
          </a:prstGeom>
          <a:solidFill>
            <a:srgbClr val="1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178100" y="5689396"/>
            <a:ext cx="279806" cy="279806"/>
          </a:xfrm>
          <a:prstGeom prst="ellipse">
            <a:avLst/>
          </a:prstGeom>
          <a:solidFill>
            <a:srgbClr val="1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57630" y="5516575"/>
            <a:ext cx="131673" cy="131673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60396" y="5516575"/>
            <a:ext cx="131673" cy="131673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71800" y="5175504"/>
            <a:ext cx="4297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7343A"/>
                </a:solidFill>
                <a:latin typeface="Noto Sans"/>
              </a:defRPr>
            </a:pPr>
            <a:r>
              <a:t>Pontualidade geral tratada: 81.9%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1" y="5806440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17343A"/>
                </a:solidFill>
                <a:latin typeface="Noto Sans"/>
              </a:defRPr>
            </a:pPr>
            <a:r>
              <a:t>Fev · Mar · Abr · Mai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37392" y="6428232"/>
            <a:ext cx="713232" cy="2560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73968" y="645109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05A67"/>
                </a:solidFill>
                <a:latin typeface="Noto Sans"/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FFF8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841248"/>
            <a:ext cx="1143000" cy="1143000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51592" y="1033271"/>
            <a:ext cx="82296" cy="438912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10469880" y="1371600"/>
            <a:ext cx="329184" cy="82296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ardrop 8"/>
          <p:cNvSpPr/>
          <p:nvPr/>
        </p:nvSpPr>
        <p:spPr>
          <a:xfrm rot="1200000">
            <a:off x="1874519" y="5349240"/>
            <a:ext cx="384048" cy="530352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 rot="1200000">
            <a:off x="2331720" y="5696712"/>
            <a:ext cx="301752" cy="420624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46920" y="5230368"/>
            <a:ext cx="1664208" cy="859536"/>
          </a:xfrm>
          <a:prstGeom prst="roundRect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12096" y="5394960"/>
            <a:ext cx="1115568" cy="301752"/>
          </a:xfrm>
          <a:prstGeom prst="rect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0295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7343A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7343A"/>
                </a:solidFill>
                <a:latin typeface="Noto Sans"/>
              </a:defRPr>
            </a:pPr>
            <a:r>
              <a:t>Perguntas e Hipóteses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1024128"/>
            <a:ext cx="10744200" cy="1078992"/>
          </a:xfrm>
          <a:prstGeom prst="roundRect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1307592"/>
            <a:ext cx="100584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100" b="1">
                <a:solidFill>
                  <a:srgbClr val="FFF8E8"/>
                </a:solidFill>
                <a:latin typeface="Noto Sans"/>
              </a:defRPr>
            </a:pPr>
            <a:r>
              <a:t>A queda é geral por causa da chuva ou está concentrada em rotas, turnos e períodos específicos?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2514600"/>
            <a:ext cx="3364992" cy="2606040"/>
          </a:xfrm>
          <a:prstGeom prst="roundRect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2734056"/>
            <a:ext cx="65836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005A67"/>
                </a:solidFill>
                <a:latin typeface="Noto Sans"/>
              </a:defRPr>
            </a:pPr>
            <a:r>
              <a:t>H1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2788920"/>
            <a:ext cx="2057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5A67"/>
                </a:solidFill>
                <a:latin typeface="Noto Sans"/>
              </a:defRPr>
            </a:pPr>
            <a:r>
              <a:t>Chuva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7" y="3483864"/>
            <a:ext cx="27889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17343A"/>
                </a:solidFill>
                <a:latin typeface="Noto Sans"/>
              </a:defRPr>
            </a:pPr>
            <a:r>
              <a:t>A chuva forte explica a piora de pontualidade.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4599432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005A67"/>
                </a:solidFill>
                <a:latin typeface="Noto Sans"/>
              </a:defRPr>
            </a:pPr>
            <a:r>
              <a:t>Testar · Comparar · Limitar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53712" y="2514600"/>
            <a:ext cx="3364992" cy="2606040"/>
          </a:xfrm>
          <a:prstGeom prst="roundRect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2734056"/>
            <a:ext cx="65836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005A67"/>
                </a:solidFill>
                <a:latin typeface="Noto Sans"/>
              </a:defRPr>
            </a:pPr>
            <a:r>
              <a:t>H2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788920"/>
            <a:ext cx="2057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5A67"/>
                </a:solidFill>
                <a:latin typeface="Noto Sans"/>
              </a:defRPr>
            </a:pPr>
            <a:r>
              <a:t>Corredor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3483864"/>
            <a:ext cx="27889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17343A"/>
                </a:solidFill>
                <a:latin typeface="Noto Sans"/>
              </a:defRPr>
            </a:pPr>
            <a:r>
              <a:t>R03 e R05 enfrentam uma restrição compartilhada.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599432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005A67"/>
                </a:solidFill>
                <a:latin typeface="Noto Sans"/>
              </a:defRPr>
            </a:pPr>
            <a:r>
              <a:t>Testar · Comparar · Limitar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57616" y="2514600"/>
            <a:ext cx="3364992" cy="2606040"/>
          </a:xfrm>
          <a:prstGeom prst="roundRect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86216" y="2734056"/>
            <a:ext cx="65836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005A67"/>
                </a:solidFill>
                <a:latin typeface="Noto Sans"/>
              </a:defRPr>
            </a:pPr>
            <a:r>
              <a:t>H3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2788920"/>
            <a:ext cx="2057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5A67"/>
                </a:solidFill>
                <a:latin typeface="Noto Sans"/>
              </a:defRPr>
            </a:pPr>
            <a:r>
              <a:t>Ocorrências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1936" y="3483864"/>
            <a:ext cx="27889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17343A"/>
                </a:solidFill>
                <a:latin typeface="Noto Sans"/>
              </a:defRPr>
            </a:pPr>
            <a:r>
              <a:t>Pane, trânsito e pneus explicam a mudança.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41664" y="4599432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005A67"/>
                </a:solidFill>
                <a:latin typeface="Noto Sans"/>
              </a:defRPr>
            </a:pPr>
            <a:r>
              <a:t>Testar · Comparar · Limitar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806440"/>
            <a:ext cx="8961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05A67"/>
                </a:solidFill>
                <a:latin typeface="Noto Sans"/>
              </a:defRPr>
            </a:pPr>
            <a:r>
              <a:t>Não buscamos uma resposta escondida. Construímos a explicação mais defensável.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137392" y="6428232"/>
            <a:ext cx="713232" cy="2560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73968" y="645109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05A67"/>
                </a:solidFill>
                <a:latin typeface="Noto Sans"/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A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841248"/>
            <a:ext cx="1143000" cy="1143000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51592" y="1033271"/>
            <a:ext cx="82296" cy="438912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10469880" y="1371600"/>
            <a:ext cx="329184" cy="82296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ardrop 8"/>
          <p:cNvSpPr/>
          <p:nvPr/>
        </p:nvSpPr>
        <p:spPr>
          <a:xfrm rot="1200000">
            <a:off x="1874519" y="5349240"/>
            <a:ext cx="384048" cy="530352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 rot="1200000">
            <a:off x="2331720" y="5696712"/>
            <a:ext cx="301752" cy="420624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46920" y="5230368"/>
            <a:ext cx="1664208" cy="859536"/>
          </a:xfrm>
          <a:prstGeom prst="roundRect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12096" y="5394960"/>
            <a:ext cx="1115568" cy="301752"/>
          </a:xfrm>
          <a:prstGeom prst="rect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0295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F8E8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FFF8E8"/>
                </a:solidFill>
                <a:latin typeface="Noto Sans"/>
              </a:defRPr>
            </a:pPr>
            <a:r>
              <a:t>Dataset e Qualidade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1124712"/>
            <a:ext cx="2048256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1243584"/>
            <a:ext cx="1792224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06449"/>
                </a:solidFill>
                <a:latin typeface="Noto Sans"/>
              </a:defRPr>
            </a:pPr>
            <a:r>
              <a:t>2.463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755648"/>
            <a:ext cx="17922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Linhas recebidas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07792" y="1124712"/>
            <a:ext cx="2048256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5808" y="1243584"/>
            <a:ext cx="1792224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005A67"/>
                </a:solidFill>
                <a:latin typeface="Noto Sans"/>
              </a:defRPr>
            </a:pPr>
            <a: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1755648"/>
            <a:ext cx="17922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Variáveis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1124712"/>
            <a:ext cx="2048256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48655" y="1243584"/>
            <a:ext cx="1792224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37A9E8"/>
                </a:solidFill>
                <a:latin typeface="Noto Sans"/>
              </a:defRPr>
            </a:pPr>
            <a:r>
              <a:t>102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1755648"/>
            <a:ext cx="17922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Dias de operação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33488" y="1124712"/>
            <a:ext cx="2880360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1504" y="1243584"/>
            <a:ext cx="262432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06449"/>
                </a:solidFill>
                <a:latin typeface="Noto Sans"/>
              </a:defRPr>
            </a:pPr>
            <a:r>
              <a:t>2.448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1755648"/>
            <a:ext cx="26243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Viagens após deduplicar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" y="2633472"/>
            <a:ext cx="5129784" cy="324612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2852928"/>
            <a:ext cx="4480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005A67"/>
                </a:solidFill>
                <a:latin typeface="Noto Sans"/>
              </a:defRPr>
            </a:pPr>
            <a:r>
              <a:t>O Que a Base Descreve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3410712"/>
            <a:ext cx="4498848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7343A"/>
                </a:solidFill>
                <a:latin typeface="Noto Sans"/>
              </a:defRPr>
            </a:pPr>
            <a:r>
              <a:t>•  Data, turno, rota, zona e empresa</a:t>
            </a:r>
          </a:p>
          <a:p>
            <a:pPr>
              <a:spcAft>
                <a:spcPts val="1100"/>
              </a:spcAft>
              <a:defRPr sz="1500">
                <a:solidFill>
                  <a:srgbClr val="17343A"/>
                </a:solidFill>
                <a:latin typeface="Noto Sans"/>
              </a:defRPr>
            </a:pPr>
            <a:r>
              <a:t>•  Horários previsto e realizado</a:t>
            </a:r>
          </a:p>
          <a:p>
            <a:pPr>
              <a:spcAft>
                <a:spcPts val="1100"/>
              </a:spcAft>
              <a:defRPr sz="1500">
                <a:solidFill>
                  <a:srgbClr val="17343A"/>
                </a:solidFill>
                <a:latin typeface="Noto Sans"/>
              </a:defRPr>
            </a:pPr>
            <a:r>
              <a:t>•  Atraso, passageiros e chuva</a:t>
            </a:r>
          </a:p>
          <a:p>
            <a:pPr>
              <a:spcAft>
                <a:spcPts val="1100"/>
              </a:spcAft>
              <a:defRPr sz="1500">
                <a:solidFill>
                  <a:srgbClr val="17343A"/>
                </a:solidFill>
                <a:latin typeface="Noto Sans"/>
              </a:defRPr>
            </a:pPr>
            <a:r>
              <a:t>•  Ocorrência registrada pelo motorista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08192" y="2633472"/>
            <a:ext cx="5303520" cy="3246120"/>
          </a:xfrm>
          <a:prstGeom prst="roundRect">
            <a:avLst/>
          </a:prstGeom>
          <a:solidFill>
            <a:srgbClr val="65C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6" y="2852928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005A67"/>
                </a:solidFill>
                <a:latin typeface="Noto Sans"/>
              </a:defRPr>
            </a:pPr>
            <a:r>
              <a:t>O Que Precisou de Cuidado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456432"/>
            <a:ext cx="822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600" b="1">
                <a:solidFill>
                  <a:srgbClr val="F06449"/>
                </a:solidFill>
                <a:latin typeface="Noto Sans"/>
              </a:defRPr>
            </a:pPr>
            <a: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456432"/>
            <a:ext cx="3474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7343A"/>
                </a:solidFill>
                <a:latin typeface="Noto Sans"/>
              </a:defRPr>
            </a:pPr>
            <a:r>
              <a:t>Duplicatas exatas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3977639"/>
            <a:ext cx="822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600" b="1">
                <a:solidFill>
                  <a:srgbClr val="F06449"/>
                </a:solidFill>
                <a:latin typeface="Noto Sans"/>
              </a:defRPr>
            </a:pPr>
            <a:r>
              <a:t>145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977639"/>
            <a:ext cx="3474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7343A"/>
                </a:solidFill>
                <a:latin typeface="Noto Sans"/>
              </a:defRPr>
            </a:pPr>
            <a:r>
              <a:t>Chuvas ausentes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4498848"/>
            <a:ext cx="822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600" b="1">
                <a:solidFill>
                  <a:srgbClr val="F06449"/>
                </a:solidFill>
                <a:latin typeface="Noto Sans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498848"/>
            <a:ext cx="3474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7343A"/>
                </a:solidFill>
                <a:latin typeface="Noto Sans"/>
              </a:defRPr>
            </a:pPr>
            <a:r>
              <a:t>Atrasos divergentes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9944" y="5020056"/>
            <a:ext cx="822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600" b="1">
                <a:solidFill>
                  <a:srgbClr val="F06449"/>
                </a:solidFill>
                <a:latin typeface="Noto Sans"/>
              </a:defRPr>
            </a:pPr>
            <a:r>
              <a:t>6 + 5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020056"/>
            <a:ext cx="3474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7343A"/>
                </a:solidFill>
                <a:latin typeface="Noto Sans"/>
              </a:defRPr>
            </a:pPr>
            <a:r>
              <a:t>Atrasos e lotações inválidos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504688"/>
            <a:ext cx="4343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50" b="1">
                <a:solidFill>
                  <a:srgbClr val="005A67"/>
                </a:solidFill>
                <a:latin typeface="Noto Sans"/>
              </a:defRPr>
            </a:pPr>
            <a:r>
              <a:t>Base bruta preservada · regras reproduzíveis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137392" y="6428232"/>
            <a:ext cx="713232" cy="2560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73968" y="645109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05A67"/>
                </a:solidFill>
                <a:latin typeface="Noto Sans"/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FFF8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841248"/>
            <a:ext cx="1143000" cy="1143000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51592" y="1033271"/>
            <a:ext cx="82296" cy="438912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10469880" y="1371600"/>
            <a:ext cx="329184" cy="82296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ardrop 8"/>
          <p:cNvSpPr/>
          <p:nvPr/>
        </p:nvSpPr>
        <p:spPr>
          <a:xfrm rot="1200000">
            <a:off x="1874519" y="5349240"/>
            <a:ext cx="384048" cy="530352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 rot="1200000">
            <a:off x="2331720" y="5696712"/>
            <a:ext cx="301752" cy="420624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46920" y="5230368"/>
            <a:ext cx="1664208" cy="859536"/>
          </a:xfrm>
          <a:prstGeom prst="roundRect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12096" y="5394960"/>
            <a:ext cx="1115568" cy="301752"/>
          </a:xfrm>
          <a:prstGeom prst="rect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0295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7343A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7343A"/>
                </a:solidFill>
                <a:latin typeface="Noto Sans"/>
              </a:defRPr>
            </a:pPr>
            <a:r>
              <a:t>Resultado Principal</a:t>
            </a:r>
          </a:p>
        </p:txBody>
      </p:sp>
      <p:pic>
        <p:nvPicPr>
          <p:cNvPr id="17" name="Picture 16" descr="01_serie_ro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35546"/>
            <a:ext cx="8092440" cy="443496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796528" y="1216152"/>
            <a:ext cx="2788920" cy="1261872"/>
          </a:xfrm>
          <a:prstGeom prst="roundRect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426464"/>
            <a:ext cx="23591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800" b="1">
                <a:solidFill>
                  <a:srgbClr val="17343A"/>
                </a:solidFill>
                <a:latin typeface="Noto Sans"/>
              </a:defRPr>
            </a:pPr>
            <a:r>
              <a:t>06/04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1911095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17343A"/>
                </a:solidFill>
                <a:latin typeface="Noto Sans"/>
              </a:defRPr>
            </a:pPr>
            <a:r>
              <a:t>Início da ruptura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528" y="2761488"/>
            <a:ext cx="2788920" cy="1261872"/>
          </a:xfrm>
          <a:prstGeom prst="roundRect">
            <a:avLst/>
          </a:prstGeom>
          <a:solidFill>
            <a:srgbClr val="65C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2962656"/>
            <a:ext cx="23591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800" b="1">
                <a:solidFill>
                  <a:srgbClr val="005A67"/>
                </a:solidFill>
                <a:latin typeface="Noto Sans"/>
              </a:defRPr>
            </a:pPr>
            <a:r>
              <a:t>19%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3465576"/>
            <a:ext cx="24871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005A67"/>
                </a:solidFill>
                <a:latin typeface="Noto Sans"/>
              </a:defRPr>
            </a:pPr>
            <a:r>
              <a:t>Pontualidade R03/R05 · Dia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96528" y="4315968"/>
            <a:ext cx="2788920" cy="1261872"/>
          </a:xfrm>
          <a:prstGeom prst="roundRect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7696" y="4526280"/>
            <a:ext cx="23591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800" b="1">
                <a:solidFill>
                  <a:srgbClr val="005A67"/>
                </a:solidFill>
                <a:latin typeface="Noto Sans"/>
              </a:defRPr>
            </a:pPr>
            <a:r>
              <a:t>12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5020056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005A67"/>
                </a:solidFill>
                <a:latin typeface="Noto Sans"/>
              </a:defRPr>
            </a:pPr>
            <a:r>
              <a:t>Mediana de atraso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7392" y="6428232"/>
            <a:ext cx="713232" cy="2560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73968" y="645109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05A67"/>
                </a:solidFill>
                <a:latin typeface="Noto Sans"/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BD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841248"/>
            <a:ext cx="1143000" cy="1143000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51592" y="1033271"/>
            <a:ext cx="82296" cy="438912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10469880" y="1371600"/>
            <a:ext cx="329184" cy="82296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ardrop 8"/>
          <p:cNvSpPr/>
          <p:nvPr/>
        </p:nvSpPr>
        <p:spPr>
          <a:xfrm rot="1200000">
            <a:off x="1874519" y="5349240"/>
            <a:ext cx="384048" cy="530352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 rot="1200000">
            <a:off x="2331720" y="5696712"/>
            <a:ext cx="301752" cy="420624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46920" y="5230368"/>
            <a:ext cx="1664208" cy="859536"/>
          </a:xfrm>
          <a:prstGeom prst="roundRect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12096" y="5394960"/>
            <a:ext cx="1115568" cy="301752"/>
          </a:xfrm>
          <a:prstGeom prst="rect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0295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005A67"/>
                </a:solidFill>
                <a:latin typeface="Noto Sans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005A67"/>
                </a:solidFill>
                <a:latin typeface="Noto Sans"/>
              </a:defRPr>
            </a:pPr>
            <a:r>
              <a:t>Evidências e Conclusão</a:t>
            </a:r>
          </a:p>
        </p:txBody>
      </p:sp>
      <p:pic>
        <p:nvPicPr>
          <p:cNvPr id="17" name="Picture 16" descr="02_heatmap_rota_tu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0954"/>
            <a:ext cx="6016752" cy="420185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47688" y="1124712"/>
            <a:ext cx="4983480" cy="1078992"/>
          </a:xfrm>
          <a:prstGeom prst="roundRect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271016"/>
            <a:ext cx="150876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05A67"/>
                </a:solidFill>
                <a:latin typeface="Noto Sans"/>
              </a:defRPr>
            </a:pPr>
            <a:r>
              <a:t>Chuva Agrava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1261872"/>
            <a:ext cx="29718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50" b="0">
                <a:solidFill>
                  <a:srgbClr val="17343A"/>
                </a:solidFill>
                <a:latin typeface="Noto Sans"/>
              </a:defRPr>
            </a:pPr>
            <a:r>
              <a:t>Correlação moderada, mas o efeito aparece em toda a operação.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7688" y="2478024"/>
            <a:ext cx="4983480" cy="1078992"/>
          </a:xfrm>
          <a:prstGeom prst="roundRect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624328"/>
            <a:ext cx="150876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05A67"/>
                </a:solidFill>
                <a:latin typeface="Noto Sans"/>
              </a:defRPr>
            </a:pPr>
            <a:r>
              <a:t>Obra Localiza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615184"/>
            <a:ext cx="29718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50" b="0">
                <a:solidFill>
                  <a:srgbClr val="17343A"/>
                </a:solidFill>
                <a:latin typeface="Noto Sans"/>
              </a:defRPr>
            </a:pPr>
            <a:r>
              <a:t>“Obra na via” surge em 07/04 somente em R03 e R05.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7688" y="3831335"/>
            <a:ext cx="4983480" cy="1078992"/>
          </a:xfrm>
          <a:prstGeom prst="roundRect">
            <a:avLst/>
          </a:prstGeom>
          <a:solidFill>
            <a:srgbClr val="65C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3977639"/>
            <a:ext cx="150876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05A67"/>
                </a:solidFill>
                <a:latin typeface="Noto Sans"/>
              </a:defRPr>
            </a:pPr>
            <a:r>
              <a:t>Noite Preserva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3968496"/>
            <a:ext cx="29718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50" b="0">
                <a:solidFill>
                  <a:srgbClr val="17343A"/>
                </a:solidFill>
                <a:latin typeface="Noto Sans"/>
              </a:defRPr>
            </a:pPr>
            <a:r>
              <a:t>As duas rotas mantêm 96% de pontualidade no turno noturno.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7688" y="5230368"/>
            <a:ext cx="4983480" cy="804672"/>
          </a:xfrm>
          <a:prstGeom prst="roundRect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4576" y="5440680"/>
            <a:ext cx="44988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FFF8E8"/>
                </a:solidFill>
                <a:latin typeface="Noto Sans"/>
              </a:defRPr>
            </a:pPr>
            <a:r>
              <a:t>Hipótese mais plausível: restrição diurna no corredor compartilhado.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37392" y="6428232"/>
            <a:ext cx="713232" cy="2560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3968" y="645109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05A67"/>
                </a:solidFill>
                <a:latin typeface="Noto Sans"/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A9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841248"/>
            <a:ext cx="1143000" cy="1143000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51592" y="1033271"/>
            <a:ext cx="82296" cy="438912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10469880" y="1371600"/>
            <a:ext cx="329184" cy="82296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ardrop 8"/>
          <p:cNvSpPr/>
          <p:nvPr/>
        </p:nvSpPr>
        <p:spPr>
          <a:xfrm rot="1200000">
            <a:off x="1874519" y="5349240"/>
            <a:ext cx="384048" cy="530352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 rot="1200000">
            <a:off x="2331720" y="5696712"/>
            <a:ext cx="301752" cy="420624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46920" y="5230368"/>
            <a:ext cx="1664208" cy="859536"/>
          </a:xfrm>
          <a:prstGeom prst="roundRect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12096" y="5394960"/>
            <a:ext cx="1115568" cy="301752"/>
          </a:xfrm>
          <a:prstGeom prst="rect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0295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7343A"/>
                </a:solidFill>
                <a:latin typeface="Noto Sans"/>
              </a:defRPr>
            </a:pPr>
            <a: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7343A"/>
                </a:solidFill>
                <a:latin typeface="Noto Sans"/>
              </a:defRPr>
            </a:pPr>
            <a:r>
              <a:t>Entregáveis Disponíveis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896112"/>
            <a:ext cx="10241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17343A"/>
                </a:solidFill>
                <a:latin typeface="Noto Sans"/>
              </a:defRPr>
            </a:pPr>
            <a:r>
              <a:t>A análise pode ser reproduzida no Colab e consultada em um relatório técnico descritivo.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1627632"/>
            <a:ext cx="5148072" cy="4224528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4983" y="1901952"/>
            <a:ext cx="749808" cy="749808"/>
          </a:xfrm>
          <a:prstGeom prst="roundRect">
            <a:avLst/>
          </a:prstGeom>
          <a:solidFill>
            <a:srgbClr val="65C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2075688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17343A"/>
                </a:solidFill>
                <a:latin typeface="Noto Sans"/>
              </a:defRPr>
            </a:pPr>
            <a:r>
              <a:t>&lt;/&gt;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9384" y="1993392"/>
            <a:ext cx="3584448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005A67"/>
                </a:solidFill>
                <a:latin typeface="Noto Sans"/>
              </a:defRPr>
            </a:pPr>
            <a:r>
              <a:t>Notebook no Google Colab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962656"/>
            <a:ext cx="4370832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17343A"/>
                </a:solidFill>
                <a:latin typeface="Noto Sans"/>
              </a:defRPr>
            </a:pPr>
            <a:r>
              <a:t>Código executável, diagnóstico, limpeza, gráficos e conclusão reproduzível.</a:t>
            </a:r>
          </a:p>
        </p:txBody>
      </p:sp>
      <p:sp>
        <p:nvSpPr>
          <p:cNvPr id="23" name="Rounded Rectangle 22">
            <a:hlinkClick r:id="rId2"/>
          </p:cNvPr>
          <p:cNvSpPr/>
          <p:nvPr/>
        </p:nvSpPr>
        <p:spPr>
          <a:xfrm>
            <a:off x="1508760" y="4315968"/>
            <a:ext cx="3657600" cy="658368"/>
          </a:xfrm>
          <a:prstGeom prst="roundRect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r:id="rId2"/>
          </p:cNvPr>
          <p:cNvSpPr txBox="1"/>
          <p:nvPr/>
        </p:nvSpPr>
        <p:spPr>
          <a:xfrm>
            <a:off x="1673352" y="4489704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50" b="1">
                <a:solidFill>
                  <a:srgbClr val="FFF8E8"/>
                </a:solidFill>
                <a:latin typeface="Noto Sans"/>
              </a:defRPr>
            </a:pPr>
            <a:r>
              <a:t>Abrir Notebook no Colab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184" y="5230368"/>
            <a:ext cx="3749039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50" b="1">
                <a:solidFill>
                  <a:srgbClr val="005A67"/>
                </a:solidFill>
                <a:latin typeface="Noto Sans"/>
              </a:defRPr>
            </a:pPr>
            <a:r>
              <a:t>Disponível no Repositório TransitTrace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4" y="1627632"/>
            <a:ext cx="5148072" cy="4224528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28816" y="1901952"/>
            <a:ext cx="749808" cy="749808"/>
          </a:xfrm>
          <a:prstGeom prst="roundRect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2075688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17343A"/>
                </a:solidFill>
                <a:latin typeface="Noto Sans"/>
              </a:defRPr>
            </a:pPr>
            <a:r>
              <a:t>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1993392"/>
            <a:ext cx="3584448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005A67"/>
                </a:solidFill>
                <a:latin typeface="Noto Sans"/>
              </a:defRPr>
            </a:pPr>
            <a:r>
              <a:t>Relatório Técnico Descritivo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2962656"/>
            <a:ext cx="4370832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17343A"/>
                </a:solidFill>
                <a:latin typeface="Noto Sans"/>
              </a:defRPr>
            </a:pPr>
            <a:r>
              <a:t>Método, evidências, limitações, tabelas, recomendações e conclusão detalhada.</a:t>
            </a:r>
          </a:p>
        </p:txBody>
      </p:sp>
      <p:sp>
        <p:nvSpPr>
          <p:cNvPr id="31" name="Rounded Rectangle 30">
            <a:hlinkClick r:id="rId3"/>
          </p:cNvPr>
          <p:cNvSpPr/>
          <p:nvPr/>
        </p:nvSpPr>
        <p:spPr>
          <a:xfrm>
            <a:off x="7022592" y="4315968"/>
            <a:ext cx="3657600" cy="658368"/>
          </a:xfrm>
          <a:prstGeom prst="roundRect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7187184" y="4489704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50" b="1">
                <a:solidFill>
                  <a:srgbClr val="FFF8E8"/>
                </a:solidFill>
                <a:latin typeface="Noto Sans"/>
              </a:defRPr>
            </a:pPr>
            <a:r>
              <a:t>Abrir Relatório Técnico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5230368"/>
            <a:ext cx="3749039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50" b="1">
                <a:solidFill>
                  <a:srgbClr val="005A67"/>
                </a:solidFill>
                <a:latin typeface="Noto Sans"/>
              </a:defRPr>
            </a:pPr>
            <a:r>
              <a:t>Disponível no Repositório TransitTrace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9696" y="6053328"/>
            <a:ext cx="790041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7343A"/>
                </a:solidFill>
                <a:latin typeface="Noto Sans"/>
              </a:defRPr>
            </a:pPr>
            <a:r>
              <a:t>O Link do Relatório Também Está no Início do Notebook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137392" y="6428232"/>
            <a:ext cx="713232" cy="2560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73968" y="645109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05A67"/>
                </a:solidFill>
                <a:latin typeface="Noto Sans"/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FFF8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841248"/>
            <a:ext cx="1143000" cy="1143000"/>
          </a:xfrm>
          <a:prstGeom prst="ellipse">
            <a:avLst/>
          </a:prstGeom>
          <a:solidFill>
            <a:srgbClr val="F6BD3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51592" y="1033271"/>
            <a:ext cx="82296" cy="438912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10469880" y="1371600"/>
            <a:ext cx="329184" cy="82296"/>
          </a:xfrm>
          <a:prstGeom prst="rect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ardrop 8"/>
          <p:cNvSpPr/>
          <p:nvPr/>
        </p:nvSpPr>
        <p:spPr>
          <a:xfrm rot="1200000">
            <a:off x="1874519" y="5349240"/>
            <a:ext cx="384048" cy="530352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 rot="1200000">
            <a:off x="2331720" y="5696712"/>
            <a:ext cx="301752" cy="420624"/>
          </a:xfrm>
          <a:prstGeom prst="teardrop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46920" y="5230368"/>
            <a:ext cx="1664208" cy="859536"/>
          </a:xfrm>
          <a:prstGeom prst="roundRect">
            <a:avLst/>
          </a:prstGeom>
          <a:solidFill>
            <a:srgbClr val="005A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12096" y="5394960"/>
            <a:ext cx="1115568" cy="301752"/>
          </a:xfrm>
          <a:prstGeom prst="rect">
            <a:avLst/>
          </a:prstGeom>
          <a:solidFill>
            <a:srgbClr val="37A9E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0295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5916168"/>
            <a:ext cx="283464" cy="283464"/>
          </a:xfrm>
          <a:prstGeom prst="ellipse">
            <a:avLst/>
          </a:prstGeom>
          <a:solidFill>
            <a:srgbClr val="17343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7343A"/>
                </a:solidFill>
                <a:latin typeface="Noto Sans"/>
              </a:defRPr>
            </a:pPr>
            <a:r>
              <a:t>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7343A"/>
                </a:solidFill>
                <a:latin typeface="Noto Sans"/>
              </a:defRPr>
            </a:pPr>
            <a:r>
              <a:t>Demonstração do Notebook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033271"/>
            <a:ext cx="6876288" cy="5376672"/>
          </a:xfrm>
          <a:prstGeom prst="roundRect">
            <a:avLst/>
          </a:prstGeom>
          <a:solidFill>
            <a:srgbClr val="F2F5F5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" y="1298448"/>
            <a:ext cx="6437376" cy="457200"/>
          </a:xfrm>
          <a:prstGeom prst="roundRect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1417320"/>
            <a:ext cx="3840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FF8E8"/>
                </a:solidFill>
                <a:latin typeface="Noto Sans"/>
              </a:defRPr>
            </a:pPr>
            <a:r>
              <a:t>Rota em Dia · Google Colab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2011680"/>
            <a:ext cx="6108192" cy="7132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D0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2148840"/>
            <a:ext cx="4389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F06449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0512" y="2148840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A67"/>
                </a:solidFill>
                <a:latin typeface="Noto Sans"/>
              </a:defRPr>
            </a:pPr>
            <a:r>
              <a:t>Carregar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157984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7343A"/>
                </a:solidFill>
                <a:latin typeface="Noto Sans"/>
              </a:defRPr>
            </a:pPr>
            <a:r>
              <a:t>CSV + diagnóstico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2953512"/>
            <a:ext cx="6108192" cy="7132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D0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7864" y="3090672"/>
            <a:ext cx="4389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F06449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0512" y="3090672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A67"/>
                </a:solidFill>
                <a:latin typeface="Noto Sans"/>
              </a:defRPr>
            </a:pPr>
            <a:r>
              <a:t>Investigar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099816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7343A"/>
                </a:solidFill>
                <a:latin typeface="Noto Sans"/>
              </a:defRPr>
            </a:pPr>
            <a:r>
              <a:t>Estatística + hipóteses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3895344"/>
            <a:ext cx="6108192" cy="7132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D0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7864" y="4032504"/>
            <a:ext cx="4389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F06449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10512" y="4032504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A67"/>
                </a:solidFill>
                <a:latin typeface="Noto Sans"/>
              </a:defRPr>
            </a:pPr>
            <a:r>
              <a:t>Limpar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041648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7343A"/>
                </a:solidFill>
                <a:latin typeface="Noto Sans"/>
              </a:defRPr>
            </a:pPr>
            <a:r>
              <a:t>Pipeline + validação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4837176"/>
            <a:ext cx="6108192" cy="7132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D0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97864" y="4974336"/>
            <a:ext cx="4389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F06449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10512" y="4974336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A67"/>
                </a:solidFill>
                <a:latin typeface="Noto Sans"/>
              </a:defRPr>
            </a:pPr>
            <a:r>
              <a:t>Explicar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983480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7343A"/>
                </a:solidFill>
                <a:latin typeface="Noto Sans"/>
              </a:defRPr>
            </a:pPr>
            <a:r>
              <a:t>5 gráficos + conclusão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1097280"/>
            <a:ext cx="3767328" cy="1901952"/>
          </a:xfrm>
          <a:prstGeom prst="roundRect">
            <a:avLst/>
          </a:prstGeom>
          <a:solidFill>
            <a:srgbClr val="65C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47304" y="1426464"/>
            <a:ext cx="31272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400" b="1">
                <a:solidFill>
                  <a:srgbClr val="005A67"/>
                </a:solidFill>
                <a:latin typeface="Noto Sans"/>
              </a:defRPr>
            </a:pPr>
            <a:r>
              <a:t>Executar Tudo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7304" y="2057400"/>
            <a:ext cx="312724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17343A"/>
                </a:solidFill>
                <a:latin typeface="Noto Sans"/>
              </a:defRPr>
            </a:pPr>
            <a:r>
              <a:t>16 células de código</a:t>
            </a:r>
            <a:br/>
            <a:r>
              <a:t>20 células de texto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3319272"/>
            <a:ext cx="3767328" cy="2240280"/>
          </a:xfrm>
          <a:prstGeom prst="roundRect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29016" y="3584448"/>
            <a:ext cx="3154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17343A"/>
                </a:solidFill>
                <a:latin typeface="Noto Sans"/>
              </a:defRPr>
            </a:pPr>
            <a:r>
              <a:t>Próximos Passos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5592" y="4142232"/>
            <a:ext cx="3017520" cy="1170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7343A"/>
                </a:solidFill>
                <a:latin typeface="Noto Sans"/>
              </a:defRPr>
            </a:pPr>
            <a:r>
              <a:t>•  Cruzar cronograma de obras</a:t>
            </a:r>
          </a:p>
          <a:p>
            <a:pPr>
              <a:spcAft>
                <a:spcPts val="600"/>
              </a:spcAft>
              <a:defRPr sz="1300">
                <a:solidFill>
                  <a:srgbClr val="17343A"/>
                </a:solidFill>
                <a:latin typeface="Noto Sans"/>
              </a:defRPr>
            </a:pPr>
            <a:r>
              <a:t>•  Coletar GPS por trecho</a:t>
            </a:r>
          </a:p>
          <a:p>
            <a:pPr>
              <a:spcAft>
                <a:spcPts val="600"/>
              </a:spcAft>
              <a:defRPr sz="1300">
                <a:solidFill>
                  <a:srgbClr val="17343A"/>
                </a:solidFill>
                <a:latin typeface="Noto Sans"/>
              </a:defRPr>
            </a:pPr>
            <a:r>
              <a:t>•  Testar desvio ou antecipação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5971032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005A67"/>
                </a:solidFill>
                <a:latin typeface="Noto Sans"/>
              </a:defRPr>
            </a:pPr>
            <a:r>
              <a:t>Perguntas?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137392" y="6428232"/>
            <a:ext cx="713232" cy="2560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73968" y="645109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05A67"/>
                </a:solidFill>
                <a:latin typeface="Noto Sans"/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Rota em Dia · Transporte fretado</dc:title>
  <dc:subject>Projeto integrador de Fundamentos de IA e Programação</dc:subject>
  <dc:creator>Juliana Ballin Lima; Fernanda de Oliveira da Costa; Pedro Henrique Oliveira Dias</dc:creator>
  <cp:keywords>transporte fretado, análise de dados, pontualidade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