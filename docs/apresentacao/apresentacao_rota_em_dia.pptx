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lab.research.google.com/github/JulianaBallin/TransitTrace/blob/main/transporte_fretado_rota_em_dia.ipynb" TargetMode="External"/><Relationship Id="rId3" Type="http://schemas.openxmlformats.org/officeDocument/2006/relationships/hyperlink" Target="https://github.com/JulianaBallin/TransitTrace/blob/main/docs/relatorio/relatorio_tecnico_rota_em_dia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FFF8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-rota-em-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1546770"/>
            <a:ext cx="4892040" cy="24751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00600" y="1170432"/>
            <a:ext cx="6400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4200" b="1">
                <a:solidFill>
                  <a:srgbClr val="005A67"/>
                </a:solidFill>
                <a:latin typeface="Noto Sans"/>
              </a:defRPr>
            </a:pPr>
            <a:r>
              <a:t>Rota em 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956816"/>
            <a:ext cx="621792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0">
                <a:solidFill>
                  <a:srgbClr val="17343A"/>
                </a:solidFill>
                <a:latin typeface="Noto Sans"/>
              </a:defRPr>
            </a:pPr>
            <a:r>
              <a:t>Por que os ônibus fretados</a:t>
            </a:r>
            <a:br/>
            <a:r>
              <a:t>estão chegando atrasados?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3328416"/>
            <a:ext cx="6126480" cy="1225296"/>
          </a:xfrm>
          <a:prstGeom prst="roundRec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584448"/>
            <a:ext cx="55778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Fundamentos de IA e Programação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968496"/>
            <a:ext cx="5577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7343A"/>
                </a:solidFill>
                <a:latin typeface="Noto Sans"/>
              </a:defRPr>
            </a:pPr>
            <a:r>
              <a:t>Projeto Integrador · Outubro de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6016752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5A67"/>
                </a:solidFill>
                <a:latin typeface="Noto Sans"/>
              </a:defRPr>
            </a:pPr>
            <a:r>
              <a:t>Juliana Ballin Lima  ·  Fernanda de Oliveira da Costa  ·  Pedro Henrique Oliveira Dias</a:t>
            </a:r>
          </a:p>
        </p:txBody>
      </p:sp>
      <p:pic>
        <p:nvPicPr>
          <p:cNvPr id="22" name="Picture 21" descr="logo-u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987" y="182880"/>
            <a:ext cx="1046561" cy="530352"/>
          </a:xfrm>
          <a:prstGeom prst="rect">
            <a:avLst/>
          </a:prstGeom>
        </p:spPr>
      </p:pic>
      <p:pic>
        <p:nvPicPr>
          <p:cNvPr id="23" name="Picture 22" descr="logo-sia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42132"/>
            <a:ext cx="859536" cy="61184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5C3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5A67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005A67"/>
                </a:solidFill>
                <a:latin typeface="Noto Sans"/>
              </a:defRPr>
            </a:pPr>
            <a:r>
              <a:t>Sumário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25296" y="2185415"/>
            <a:ext cx="2221992" cy="1033273"/>
          </a:xfrm>
          <a:prstGeom prst="line">
            <a:avLst/>
          </a:prstGeom>
          <a:ln w="63500">
            <a:solidFill>
              <a:srgbClr val="005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447288" y="2185415"/>
            <a:ext cx="2240280" cy="1033273"/>
          </a:xfrm>
          <a:prstGeom prst="line">
            <a:avLst/>
          </a:prstGeom>
          <a:ln w="63500">
            <a:solidFill>
              <a:srgbClr val="005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87568" y="2185415"/>
            <a:ext cx="2240280" cy="1033273"/>
          </a:xfrm>
          <a:prstGeom prst="line">
            <a:avLst/>
          </a:prstGeom>
          <a:ln w="63500">
            <a:solidFill>
              <a:srgbClr val="005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927848" y="2185415"/>
            <a:ext cx="2231136" cy="1033273"/>
          </a:xfrm>
          <a:prstGeom prst="line">
            <a:avLst/>
          </a:prstGeom>
          <a:ln w="63500">
            <a:solidFill>
              <a:srgbClr val="005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14400" y="1874519"/>
            <a:ext cx="621792" cy="621792"/>
          </a:xfrm>
          <a:prstGeom prst="ellipse">
            <a:avLst/>
          </a:prstGeom>
          <a:solidFill>
            <a:srgbClr val="F06449"/>
          </a:solidFill>
          <a:ln w="2540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1975103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" y="1115568"/>
            <a:ext cx="1572768" cy="950976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252728"/>
            <a:ext cx="13898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5A67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1591056"/>
            <a:ext cx="1389888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80" b="0">
                <a:solidFill>
                  <a:srgbClr val="17343A"/>
                </a:solidFill>
                <a:latin typeface="Noto Sans"/>
              </a:defRPr>
            </a:pPr>
            <a:r>
              <a:t>R03 e R05 desde 06/04</a:t>
            </a:r>
          </a:p>
        </p:txBody>
      </p:sp>
      <p:sp>
        <p:nvSpPr>
          <p:cNvPr id="26" name="Oval 25"/>
          <p:cNvSpPr/>
          <p:nvPr/>
        </p:nvSpPr>
        <p:spPr>
          <a:xfrm>
            <a:off x="3136392" y="2907792"/>
            <a:ext cx="621792" cy="621792"/>
          </a:xfrm>
          <a:prstGeom prst="ellipse">
            <a:avLst/>
          </a:prstGeom>
          <a:solidFill>
            <a:srgbClr val="F6BD38"/>
          </a:solidFill>
          <a:ln w="2540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9544" y="3008376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60904" y="3703320"/>
            <a:ext cx="1572768" cy="950976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52344" y="3840480"/>
            <a:ext cx="13898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5A67"/>
                </a:solidFill>
                <a:latin typeface="Noto Sans"/>
              </a:defRPr>
            </a:pPr>
            <a:r>
              <a:t>A Investigação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2344" y="4178808"/>
            <a:ext cx="1389888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80" b="0">
                <a:solidFill>
                  <a:srgbClr val="17343A"/>
                </a:solidFill>
                <a:latin typeface="Noto Sans"/>
              </a:defRPr>
            </a:pPr>
            <a:r>
              <a:t>Três hipóteses testadas</a:t>
            </a:r>
          </a:p>
        </p:txBody>
      </p:sp>
      <p:sp>
        <p:nvSpPr>
          <p:cNvPr id="31" name="Oval 30"/>
          <p:cNvSpPr/>
          <p:nvPr/>
        </p:nvSpPr>
        <p:spPr>
          <a:xfrm>
            <a:off x="5376672" y="1874519"/>
            <a:ext cx="621792" cy="621792"/>
          </a:xfrm>
          <a:prstGeom prst="ellipse">
            <a:avLst/>
          </a:prstGeom>
          <a:solidFill>
            <a:srgbClr val="37A9E8"/>
          </a:solidFill>
          <a:ln w="2540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9824" y="1975103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01183" y="1115568"/>
            <a:ext cx="1572768" cy="950976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1252728"/>
            <a:ext cx="13898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5A67"/>
                </a:solidFill>
                <a:latin typeface="Noto Sans"/>
              </a:defRPr>
            </a:pPr>
            <a:r>
              <a:t>Os Dados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1591056"/>
            <a:ext cx="1389888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80" b="0">
                <a:solidFill>
                  <a:srgbClr val="17343A"/>
                </a:solidFill>
                <a:latin typeface="Noto Sans"/>
              </a:defRPr>
            </a:pPr>
            <a:r>
              <a:t>O que a limpeza mudou</a:t>
            </a:r>
          </a:p>
        </p:txBody>
      </p:sp>
      <p:sp>
        <p:nvSpPr>
          <p:cNvPr id="36" name="Oval 35"/>
          <p:cNvSpPr/>
          <p:nvPr/>
        </p:nvSpPr>
        <p:spPr>
          <a:xfrm>
            <a:off x="7616952" y="2907792"/>
            <a:ext cx="621792" cy="621792"/>
          </a:xfrm>
          <a:prstGeom prst="ellipse">
            <a:avLst/>
          </a:prstGeom>
          <a:solidFill>
            <a:srgbClr val="F06449"/>
          </a:solidFill>
          <a:ln w="2540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90104" y="3008376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41464" y="3703320"/>
            <a:ext cx="1572768" cy="950976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32904" y="3840480"/>
            <a:ext cx="13898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5A67"/>
                </a:solidFill>
                <a:latin typeface="Noto Sans"/>
              </a:defRPr>
            </a:pPr>
            <a:r>
              <a:t>A Resolução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2904" y="4178808"/>
            <a:ext cx="1389888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80" b="0">
                <a:solidFill>
                  <a:srgbClr val="17343A"/>
                </a:solidFill>
                <a:latin typeface="Noto Sans"/>
              </a:defRPr>
            </a:pPr>
            <a:r>
              <a:t>Explicação mais plausível</a:t>
            </a:r>
          </a:p>
        </p:txBody>
      </p:sp>
      <p:sp>
        <p:nvSpPr>
          <p:cNvPr id="41" name="Oval 40"/>
          <p:cNvSpPr/>
          <p:nvPr/>
        </p:nvSpPr>
        <p:spPr>
          <a:xfrm>
            <a:off x="9848088" y="1874519"/>
            <a:ext cx="621792" cy="621792"/>
          </a:xfrm>
          <a:prstGeom prst="ellipse">
            <a:avLst/>
          </a:prstGeom>
          <a:solidFill>
            <a:srgbClr val="FFF8E8"/>
          </a:solidFill>
          <a:ln w="2540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1975103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72600" y="1115568"/>
            <a:ext cx="1572768" cy="950976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1252728"/>
            <a:ext cx="138988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5A67"/>
                </a:solidFill>
                <a:latin typeface="Noto Sans"/>
              </a:defRPr>
            </a:pPr>
            <a:r>
              <a:t>As Ações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1591056"/>
            <a:ext cx="1389888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80" b="0">
                <a:solidFill>
                  <a:srgbClr val="17343A"/>
                </a:solidFill>
                <a:latin typeface="Noto Sans"/>
              </a:defRPr>
            </a:pPr>
            <a:r>
              <a:t>Limites e próximos passos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26080" y="5074920"/>
            <a:ext cx="6309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Uma Investigação Guiada Pelas Evidências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98280" y="4919472"/>
            <a:ext cx="1499616" cy="899769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78233" y="5061935"/>
            <a:ext cx="1139708" cy="359907"/>
          </a:xfrm>
          <a:prstGeom prst="roundRect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38218" y="5654283"/>
            <a:ext cx="254934" cy="254934"/>
          </a:xfrm>
          <a:prstGeom prst="ellipse">
            <a:avLst/>
          </a:prstGeom>
          <a:solidFill>
            <a:srgbClr val="1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207995" y="5654283"/>
            <a:ext cx="254934" cy="254934"/>
          </a:xfrm>
          <a:prstGeom prst="ellipse">
            <a:avLst/>
          </a:prstGeom>
          <a:solidFill>
            <a:srgbClr val="17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78233" y="5496824"/>
            <a:ext cx="119969" cy="119969"/>
          </a:xfrm>
          <a:prstGeom prst="ellipse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82976" y="5496824"/>
            <a:ext cx="119969" cy="119969"/>
          </a:xfrm>
          <a:prstGeom prst="ellipse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64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Ato 1 · O Problema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1115568"/>
            <a:ext cx="10881360" cy="160020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1371600"/>
            <a:ext cx="102412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005A67"/>
                </a:solidFill>
                <a:latin typeface="Noto Sans"/>
              </a:defRPr>
            </a:pPr>
            <a:r>
              <a:t>A pontualidade geral de 81,9% esconde uma ruptura: R03 e R05 passaram a chegar atrasadas nos turnos diurnos desde 6 de abril.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017520"/>
            <a:ext cx="3520440" cy="141732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3145536"/>
            <a:ext cx="31912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1">
                <a:solidFill>
                  <a:srgbClr val="005A67"/>
                </a:solidFill>
                <a:latin typeface="Noto Sans"/>
              </a:defRPr>
            </a:pPr>
            <a:r>
              <a:t>84% → 19%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749039"/>
            <a:ext cx="3191256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Pontualidade de R03/R05 de dia, antes e depois de 06/04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4256" y="3017520"/>
            <a:ext cx="3520440" cy="141732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3145536"/>
            <a:ext cx="3191256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1">
                <a:solidFill>
                  <a:srgbClr val="F06449"/>
                </a:solidFill>
                <a:latin typeface="Noto Sans"/>
              </a:defRPr>
            </a:pPr>
            <a:r>
              <a:t>12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3749039"/>
            <a:ext cx="3191256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Mediana do atraso das duas rotas de dia, para um limite de 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0144" y="3017520"/>
            <a:ext cx="3529584" cy="141732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3145536"/>
            <a:ext cx="32004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1">
                <a:solidFill>
                  <a:srgbClr val="005A67"/>
                </a:solidFill>
                <a:latin typeface="Noto Sans"/>
              </a:defRPr>
            </a:pPr>
            <a:r>
              <a:t>53 de 191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749039"/>
            <a:ext cx="3200400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viagens chegam depois do início do turno (demais rotas: 14)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736592"/>
            <a:ext cx="10881360" cy="1078992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1024128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50" b="1">
                <a:solidFill>
                  <a:srgbClr val="FFF8E8"/>
                </a:solidFill>
                <a:latin typeface="Noto Sans"/>
              </a:defRPr>
            </a:pPr>
            <a:r>
              <a:t>Por que importa para a fábrica: o ônibus deve chegar 15 minutos antes do turno. Com 12 minutos de atraso mediano a folga some, e 28% dessas viagens chegam depois da hora de entrada.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FFF8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Ato 1 · Quando e onde começou</a:t>
            </a:r>
          </a:p>
        </p:txBody>
      </p:sp>
      <p:pic>
        <p:nvPicPr>
          <p:cNvPr id="17" name="Picture 16" descr="01_serie_ro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36720"/>
            <a:ext cx="8092440" cy="443261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796528" y="1216152"/>
            <a:ext cx="2788920" cy="1261872"/>
          </a:xfrm>
          <a:prstGeom prst="roundRect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7696" y="1426464"/>
            <a:ext cx="235915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800" b="1">
                <a:solidFill>
                  <a:srgbClr val="17343A"/>
                </a:solidFill>
                <a:latin typeface="Noto Sans"/>
              </a:defRPr>
            </a:pPr>
            <a:r>
              <a:t>06/04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1911095"/>
            <a:ext cx="235915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>
                <a:solidFill>
                  <a:srgbClr val="17343A"/>
                </a:solidFill>
                <a:latin typeface="Noto Sans"/>
              </a:defRPr>
            </a:pPr>
            <a:r>
              <a:t>Início da ruptura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96528" y="2761488"/>
            <a:ext cx="2788920" cy="1261872"/>
          </a:xfrm>
          <a:prstGeom prst="roundRec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24544" y="2962656"/>
            <a:ext cx="254203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5A67"/>
                </a:solidFill>
                <a:latin typeface="Noto Sans"/>
              </a:defRPr>
            </a:pPr>
            <a:r>
              <a:t>2 de 8 rotas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3465576"/>
            <a:ext cx="254203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005A67"/>
                </a:solidFill>
                <a:latin typeface="Noto Sans"/>
              </a:defRPr>
            </a:pPr>
            <a:r>
              <a:t>R03 e R05, ambas da zona Leste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96528" y="4315968"/>
            <a:ext cx="2788920" cy="1261872"/>
          </a:xfrm>
          <a:prstGeom prst="roundRect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544" y="4526280"/>
            <a:ext cx="254203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5A67"/>
                </a:solidFill>
                <a:latin typeface="Noto Sans"/>
              </a:defRPr>
            </a:pPr>
            <a:r>
              <a:t>Só de 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5020056"/>
            <a:ext cx="254203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005A67"/>
                </a:solidFill>
                <a:latin typeface="Noto Sans"/>
              </a:defRPr>
            </a:pPr>
            <a:r>
              <a:t>Manhã e tarde; a noite segue em 96%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FFF8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Ato 2 · Três hipóteses testadas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1024128"/>
            <a:ext cx="10744200" cy="914400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1261872"/>
            <a:ext cx="100584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FFF8E8"/>
                </a:solidFill>
                <a:latin typeface="Noto Sans"/>
              </a:defRPr>
            </a:pPr>
            <a:r>
              <a:t>A queda é geral por causa da chuva ou está concentrada em rotas, turnos e períodos específicos?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2212848"/>
            <a:ext cx="3364992" cy="3401568"/>
          </a:xfrm>
          <a:prstGeom prst="roundRect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7" y="2395728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2495" y="2450592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Chuva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017520"/>
            <a:ext cx="2852928" cy="1828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Parecia a explicação certa: em março todas as rotas pioram. Mas sem chuva, R03/R05 têm 26% de pontualidade de dia e as demais, 95%.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" y="4919472"/>
            <a:ext cx="2926080" cy="475488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92624"/>
            <a:ext cx="2852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150" b="1">
                <a:solidFill>
                  <a:srgbClr val="FFF8E8"/>
                </a:solidFill>
                <a:latin typeface="Noto Sans"/>
              </a:defRPr>
            </a:pPr>
            <a:r>
              <a:t>Perdeu força · agravante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53712" y="2212848"/>
            <a:ext cx="3364992" cy="3401568"/>
          </a:xfrm>
          <a:prstGeom prst="roundRect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2395728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2450592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Corredor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017520"/>
            <a:ext cx="2852928" cy="1828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A ruptura começa em 06/04, só de dia. “Obra na via” aparece em 07/04 apenas nessas duas rotas.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73168" y="4919472"/>
            <a:ext cx="2926080" cy="475488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9744" y="4992624"/>
            <a:ext cx="2852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150" b="1">
                <a:solidFill>
                  <a:srgbClr val="FFF8E8"/>
                </a:solidFill>
                <a:latin typeface="Noto Sans"/>
              </a:defRPr>
            </a:pPr>
            <a:r>
              <a:t>Ganhou força · mais plausível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57616" y="2212848"/>
            <a:ext cx="3364992" cy="3401568"/>
          </a:xfrm>
          <a:prstGeom prst="roundRect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86216" y="2395728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450592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Ocorrências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13648" y="3017520"/>
            <a:ext cx="2852928" cy="1828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Pane e pneu somam 49 viagens atrasadas. São casos severos e dispersos, que não deslocam a distribuição inteira.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77072" y="4919472"/>
            <a:ext cx="2926080" cy="475488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13648" y="4992624"/>
            <a:ext cx="2852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150" b="1">
                <a:solidFill>
                  <a:srgbClr val="FFF8E8"/>
                </a:solidFill>
                <a:latin typeface="Noto Sans"/>
              </a:defRPr>
            </a:pPr>
            <a:r>
              <a:t>Rejeitada como causa principal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852160"/>
            <a:ext cx="8961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5A67"/>
                </a:solidFill>
                <a:latin typeface="Noto Sans"/>
              </a:defRPr>
            </a:pPr>
            <a:r>
              <a:t>Não buscamos uma resposta escondida. Construímos a explicação mais defensável.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BD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5A67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005A67"/>
                </a:solidFill>
                <a:latin typeface="Noto Sans"/>
              </a:defRPr>
            </a:pPr>
            <a:r>
              <a:t>Ato 2 · Onde o problema se concentra</a:t>
            </a:r>
          </a:p>
        </p:txBody>
      </p:sp>
      <p:pic>
        <p:nvPicPr>
          <p:cNvPr id="17" name="Picture 16" descr="02_heatmap_rota_tu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5184"/>
            <a:ext cx="6016752" cy="419339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647688" y="1124712"/>
            <a:ext cx="4983480" cy="1078992"/>
          </a:xfrm>
          <a:prstGeom prst="roundRect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271016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Chuva Agrava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1261872"/>
            <a:ext cx="315468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Correlação moderada (0,46): o efeito aparece em toda a operação, não só em duas rotas.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2478024"/>
            <a:ext cx="4983480" cy="1078992"/>
          </a:xfrm>
          <a:prstGeom prst="roundRect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624328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Obra Localiza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2615184"/>
            <a:ext cx="315468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“Obra na via” surge em 07/04 somente em R03 e R05.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47688" y="3831335"/>
            <a:ext cx="4983480" cy="1078992"/>
          </a:xfrm>
          <a:prstGeom prst="roundRec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977639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Noite Preserva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2" y="3968496"/>
            <a:ext cx="315468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As duas rotas mantêm 96% de pontualidade no turno noturno.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7688" y="5230368"/>
            <a:ext cx="4983480" cy="804672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5440680"/>
            <a:ext cx="44988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1">
                <a:solidFill>
                  <a:srgbClr val="FFF8E8"/>
                </a:solidFill>
                <a:latin typeface="Noto Sans"/>
              </a:defRPr>
            </a:pPr>
            <a:r>
              <a:t>Rota × turno: o problema é diurno e restrito a duas rotas.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A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F8E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FFF8E8"/>
                </a:solidFill>
                <a:latin typeface="Noto Sans"/>
              </a:defRPr>
            </a:pPr>
            <a:r>
              <a:t>Ato 2 · O que a limpeza mudou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1124712"/>
            <a:ext cx="2048256" cy="114300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1243584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2.463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755648"/>
            <a:ext cx="17922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Linhas recebidas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07792" y="1124712"/>
            <a:ext cx="2048256" cy="114300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5808" y="1243584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35808" y="1755648"/>
            <a:ext cx="17922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Variáveis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1124712"/>
            <a:ext cx="2048256" cy="114300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48655" y="1243584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37A9E8"/>
                </a:solidFill>
                <a:latin typeface="Noto Sans"/>
              </a:defRPr>
            </a:pPr>
            <a:r>
              <a:t>102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8655" y="1755648"/>
            <a:ext cx="17922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Dias de operação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33488" y="1124712"/>
            <a:ext cx="2880360" cy="114300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61504" y="1243584"/>
            <a:ext cx="262432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2.448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1504" y="1755648"/>
            <a:ext cx="2624328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Viagens após deduplicar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" y="2633472"/>
            <a:ext cx="5129784" cy="3246120"/>
          </a:xfrm>
          <a:prstGeom prst="round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2852928"/>
            <a:ext cx="4480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005A67"/>
                </a:solidFill>
                <a:latin typeface="Noto Sans"/>
              </a:defRPr>
            </a:pPr>
            <a:r>
              <a:t>Antes → Depois da Limpeza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3456432"/>
            <a:ext cx="2148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F06449"/>
                </a:solidFill>
                <a:latin typeface="Noto Sans"/>
              </a:defRPr>
            </a:pPr>
            <a:r>
              <a:t>2,51 → 0,70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3474720"/>
            <a:ext cx="2468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7343A"/>
                </a:solidFill>
                <a:latin typeface="Noto Sans"/>
              </a:defRPr>
            </a:pPr>
            <a:r>
              <a:t>min · atraso médio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" y="4023359"/>
            <a:ext cx="2148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F06449"/>
                </a:solidFill>
                <a:latin typeface="Noto Sans"/>
              </a:defRPr>
            </a:pPr>
            <a:r>
              <a:t>81,4 → 81,9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041647"/>
            <a:ext cx="2468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7343A"/>
                </a:solidFill>
                <a:latin typeface="Noto Sans"/>
              </a:defRPr>
            </a:pPr>
            <a:r>
              <a:t>% · pontualidade geral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" y="4590288"/>
            <a:ext cx="2148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F06449"/>
                </a:solidFill>
                <a:latin typeface="Noto Sans"/>
              </a:defRPr>
            </a:pPr>
            <a:r>
              <a:t>Intacta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608575"/>
            <a:ext cx="2468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7343A"/>
                </a:solidFill>
                <a:latin typeface="Noto Sans"/>
              </a:defRPr>
            </a:pPr>
            <a:r>
              <a:t>ruptura de R03/R05 em 06/04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" y="5138928"/>
            <a:ext cx="4617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005A67"/>
                </a:solidFill>
                <a:latin typeface="Noto Sans"/>
              </a:defRPr>
            </a:pPr>
            <a:r>
              <a:t>A média caiu porque seis atrasos de mais de 700 minutos saíram do cálculo. A conclusão principal sobrevive à limpeza.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2633472"/>
            <a:ext cx="5303520" cy="3246120"/>
          </a:xfrm>
          <a:prstGeom prst="roundRec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852928"/>
            <a:ext cx="4663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005A67"/>
                </a:solidFill>
                <a:latin typeface="Noto Sans"/>
              </a:defRPr>
            </a:pPr>
            <a:r>
              <a:t>O Que Precisou de Cuidado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3456432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F06449"/>
                </a:solidFill>
                <a:latin typeface="Noto Sans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3456432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Duplicatas exatas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9944" y="3977639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F06449"/>
                </a:solidFill>
                <a:latin typeface="Noto Sans"/>
              </a:defRPr>
            </a:pPr>
            <a:r>
              <a:t>145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3977639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Chuvas ausentes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9944" y="4498848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F06449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4498848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Atrasos divergentes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9944" y="5020056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F06449"/>
                </a:solidFill>
                <a:latin typeface="Noto Sans"/>
              </a:defRPr>
            </a:pPr>
            <a:r>
              <a:t>6 + 5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5020056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Atrasos e lotações inválidos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5504688"/>
            <a:ext cx="4343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5A67"/>
                </a:solidFill>
                <a:latin typeface="Noto Sans"/>
              </a:defRPr>
            </a:pPr>
            <a:r>
              <a:t>Base bruta preservada · regras reproduzíveis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FFF8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Ato 3 · A explicação mais plausível</a:t>
            </a:r>
          </a:p>
        </p:txBody>
      </p:sp>
      <p:pic>
        <p:nvPicPr>
          <p:cNvPr id="17" name="Picture 16" descr="06_exploratorio_explic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585" y="960120"/>
            <a:ext cx="10354349" cy="416052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13232" y="5285232"/>
            <a:ext cx="10744200" cy="1024128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468112"/>
            <a:ext cx="10149840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50" b="1">
                <a:solidFill>
                  <a:srgbClr val="FFF8E8"/>
                </a:solidFill>
                <a:latin typeface="Noto Sans"/>
              </a:defRPr>
            </a:pPr>
            <a:r>
              <a:t>A pontualidade de R03 e R05 caiu nos turnos diurnos desde 6 de abril; obras no corredor são a explicação mais plausível, a confirmar com GPS e cronogramas.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A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01168" y="-182880"/>
            <a:ext cx="676656" cy="676656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11338560" y="-164592"/>
            <a:ext cx="868680" cy="868680"/>
          </a:xfrm>
          <a:prstGeom prst="arc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11411712" y="6053328"/>
            <a:ext cx="640080" cy="640080"/>
          </a:xfrm>
          <a:prstGeom prst="star8">
            <a:avLst/>
          </a:prstGeom>
          <a:solidFill>
            <a:srgbClr val="F06449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Moon 4"/>
          <p:cNvSpPr/>
          <p:nvPr/>
        </p:nvSpPr>
        <p:spPr>
          <a:xfrm>
            <a:off x="-219456" y="5989320"/>
            <a:ext cx="658368" cy="658368"/>
          </a:xfrm>
          <a:prstGeom prst="moon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21240" y="841248"/>
            <a:ext cx="1143000" cy="1143000"/>
          </a:xfrm>
          <a:prstGeom prst="ellipse">
            <a:avLst/>
          </a:prstGeom>
          <a:solidFill>
            <a:srgbClr val="F6BD3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51592" y="1033271"/>
            <a:ext cx="82296" cy="438912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0">
            <a:off x="10469880" y="1371600"/>
            <a:ext cx="329184" cy="82296"/>
          </a:xfrm>
          <a:prstGeom prst="rect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 rot="1200000">
            <a:off x="1874519" y="5349240"/>
            <a:ext cx="384048" cy="530352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rdrop 9"/>
          <p:cNvSpPr/>
          <p:nvPr/>
        </p:nvSpPr>
        <p:spPr>
          <a:xfrm rot="1200000">
            <a:off x="2331720" y="5696712"/>
            <a:ext cx="301752" cy="420624"/>
          </a:xfrm>
          <a:prstGeom prst="teardrop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5230368"/>
            <a:ext cx="1664208" cy="859536"/>
          </a:xfrm>
          <a:prstGeom prst="roundRect">
            <a:avLst/>
          </a:prstGeom>
          <a:solidFill>
            <a:srgbClr val="005A67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2096" y="5394960"/>
            <a:ext cx="1115568" cy="301752"/>
          </a:xfrm>
          <a:prstGeom prst="rect">
            <a:avLst/>
          </a:prstGeom>
          <a:solidFill>
            <a:srgbClr val="37A9E8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295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1632" y="5916168"/>
            <a:ext cx="283464" cy="283464"/>
          </a:xfrm>
          <a:prstGeom prst="ellipse">
            <a:avLst/>
          </a:prstGeom>
          <a:solidFill>
            <a:srgbClr val="17343A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Ato 3 · Limites e próximos passos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1143000"/>
            <a:ext cx="5148072" cy="3246120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1371600"/>
            <a:ext cx="4572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005A67"/>
                </a:solidFill>
                <a:latin typeface="Noto Sans"/>
              </a:defRPr>
            </a:pPr>
            <a:r>
              <a:t>O Que Ainda Não Podemos Afirmar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1956816"/>
            <a:ext cx="4663440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Que a obra causou os atrasos: a base mostra coincidência no tempo e no lugar, não causa.</a:t>
            </a:r>
          </a:p>
          <a:p>
            <a:pPr>
              <a:spcAft>
                <a:spcPts val="12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Qual trecho da via é o gargalo: não há GPS nem tempo por trecho.</a:t>
            </a:r>
          </a:p>
          <a:p>
            <a:pPr>
              <a:spcAft>
                <a:spcPts val="12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Quanto o registro do motorista deixa de anotar: um terço dos atrasos não tem ocorrência.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1143000"/>
            <a:ext cx="5148072" cy="3246120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1371600"/>
            <a:ext cx="4572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005A67"/>
                </a:solidFill>
                <a:latin typeface="Noto Sans"/>
              </a:defRPr>
            </a:pPr>
            <a:r>
              <a:t>Ações Recomendadas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1956816"/>
            <a:ext cx="4663440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1.  Cruzar o período com o cronograma e a localização das obras públicas.</a:t>
            </a:r>
          </a:p>
          <a:p>
            <a:pPr>
              <a:spcAft>
                <a:spcPts val="12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2.  Coletar GPS e tempo por trecho em R03 e R05 por duas semanas.</a:t>
            </a:r>
          </a:p>
          <a:p>
            <a:pPr>
              <a:spcAft>
                <a:spcPts val="12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3.  Testar desvio de rota ou saída 15 minutos antes nos turnos diurnos.</a:t>
            </a:r>
          </a:p>
        </p:txBody>
      </p:sp>
      <p:sp>
        <p:nvSpPr>
          <p:cNvPr id="23" name="Rounded Rectangle 22">
            <a:hlinkClick r:id="rId2"/>
          </p:cNvPr>
          <p:cNvSpPr/>
          <p:nvPr/>
        </p:nvSpPr>
        <p:spPr>
          <a:xfrm>
            <a:off x="1508760" y="4736592"/>
            <a:ext cx="3657600" cy="658368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r:id="rId2"/>
          </p:cNvPr>
          <p:cNvSpPr txBox="1"/>
          <p:nvPr/>
        </p:nvSpPr>
        <p:spPr>
          <a:xfrm>
            <a:off x="1673352" y="4910328"/>
            <a:ext cx="33284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350" b="1">
                <a:solidFill>
                  <a:srgbClr val="FFF8E8"/>
                </a:solidFill>
                <a:latin typeface="Noto Sans"/>
              </a:defRPr>
            </a:pPr>
            <a:r>
              <a:t>Abrir Notebook no Colab</a:t>
            </a:r>
          </a:p>
        </p:txBody>
      </p:sp>
      <p:sp>
        <p:nvSpPr>
          <p:cNvPr id="25" name="Rounded Rectangle 24">
            <a:hlinkClick r:id="rId3"/>
          </p:cNvPr>
          <p:cNvSpPr/>
          <p:nvPr/>
        </p:nvSpPr>
        <p:spPr>
          <a:xfrm>
            <a:off x="7022592" y="4736592"/>
            <a:ext cx="3657600" cy="658368"/>
          </a:xfrm>
          <a:prstGeom prst="roundRect">
            <a:avLst/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3"/>
          </p:cNvPr>
          <p:cNvSpPr txBox="1"/>
          <p:nvPr/>
        </p:nvSpPr>
        <p:spPr>
          <a:xfrm>
            <a:off x="7187184" y="4910328"/>
            <a:ext cx="33284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350" b="1">
                <a:solidFill>
                  <a:srgbClr val="FFF8E8"/>
                </a:solidFill>
                <a:latin typeface="Noto Sans"/>
              </a:defRPr>
            </a:pPr>
            <a:r>
              <a:t>Abrir Relatório Técnico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9696" y="5669280"/>
            <a:ext cx="7900416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17343A"/>
                </a:solidFill>
                <a:latin typeface="Noto Sans"/>
              </a:defRPr>
            </a:pPr>
            <a:r>
              <a:t>Análise completa e reproduzível no repositório TransitTrace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6053328"/>
            <a:ext cx="2743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Perguntas?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137392" y="6428232"/>
            <a:ext cx="713232" cy="25603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64510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900" b="1">
                <a:solidFill>
                  <a:srgbClr val="005A67"/>
                </a:solidFill>
                <a:latin typeface="Noto Sans"/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Rota em Dia · Transporte fretado</dc:title>
  <dc:subject>Projeto integrador de Fundamentos de IA e Programação</dc:subject>
  <dc:creator>Juliana Ballin Lima; Fernanda de Oliveira da Costa; Pedro Henrique Oliveira Dias</dc:creator>
  <cp:keywords>transporte fretado, análise de dados, pontualidade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