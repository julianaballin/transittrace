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olab.research.google.com/github/JulianaBallin/TransitTrace/blob/main/transporte_fretado_rota_em_dia.ipynb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github.com/JulianaBallin/TransitTrace/blob/main/docs/relatorio/relatorio_tecnico_rota_em_dia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rota-em-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1546770"/>
            <a:ext cx="4892040" cy="247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00600" y="1170432"/>
            <a:ext cx="6400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4200" b="1">
                <a:solidFill>
                  <a:srgbClr val="005A67"/>
                </a:solidFill>
                <a:latin typeface="Noto Sans"/>
              </a:defRPr>
            </a:pPr>
            <a:r>
              <a:t>Rota em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1956816"/>
            <a:ext cx="62179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0">
                <a:solidFill>
                  <a:srgbClr val="17343A"/>
                </a:solidFill>
                <a:latin typeface="Noto Sans"/>
              </a:defRPr>
            </a:pPr>
            <a:r>
              <a:t>Por que os ônibus fretados</a:t>
            </a:r>
            <a:br/>
            <a:r>
              <a:t>estão chegando atrasados?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3328416"/>
            <a:ext cx="6126480" cy="1225296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3584448"/>
            <a:ext cx="55778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Fundamentos de IA e Programação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968496"/>
            <a:ext cx="5577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Projeto Integrador ·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6016752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5A6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pic>
        <p:nvPicPr>
          <p:cNvPr id="12" name="Picture 11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987" y="182880"/>
            <a:ext cx="1046561" cy="530352"/>
          </a:xfrm>
          <a:prstGeom prst="rect">
            <a:avLst/>
          </a:prstGeom>
        </p:spPr>
      </p:pic>
      <p:pic>
        <p:nvPicPr>
          <p:cNvPr id="13" name="Picture 12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42132"/>
            <a:ext cx="859536" cy="6118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A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25296" y="3054096"/>
            <a:ext cx="2221992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47288" y="3054096"/>
            <a:ext cx="2240280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687568" y="3054096"/>
            <a:ext cx="2240280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27848" y="3054096"/>
            <a:ext cx="2231136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14400" y="2743200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Atrasos no transporte</a:t>
            </a:r>
          </a:p>
        </p:txBody>
      </p:sp>
      <p:sp>
        <p:nvSpPr>
          <p:cNvPr id="15" name="Oval 14"/>
          <p:cNvSpPr/>
          <p:nvPr/>
        </p:nvSpPr>
        <p:spPr>
          <a:xfrm>
            <a:off x="3136392" y="2743200"/>
            <a:ext cx="621792" cy="621792"/>
          </a:xfrm>
          <a:prstGeom prst="ellipse">
            <a:avLst/>
          </a:prstGeom>
          <a:solidFill>
            <a:srgbClr val="F6BD3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954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767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187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Três hipóteses</a:t>
            </a:r>
          </a:p>
        </p:txBody>
      </p:sp>
      <p:sp>
        <p:nvSpPr>
          <p:cNvPr id="19" name="Oval 18"/>
          <p:cNvSpPr/>
          <p:nvPr/>
        </p:nvSpPr>
        <p:spPr>
          <a:xfrm>
            <a:off x="5376672" y="2743200"/>
            <a:ext cx="621792" cy="621792"/>
          </a:xfrm>
          <a:prstGeom prst="ellipse">
            <a:avLst/>
          </a:prstGeom>
          <a:solidFill>
            <a:srgbClr val="37A9E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982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2.463 viagens</a:t>
            </a:r>
          </a:p>
        </p:txBody>
      </p:sp>
      <p:sp>
        <p:nvSpPr>
          <p:cNvPr id="23" name="Oval 22"/>
          <p:cNvSpPr/>
          <p:nvPr/>
        </p:nvSpPr>
        <p:spPr>
          <a:xfrm>
            <a:off x="7616952" y="2743200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010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67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Achado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187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R03 e R05 desde 06/04</a:t>
            </a:r>
          </a:p>
        </p:txBody>
      </p:sp>
      <p:sp>
        <p:nvSpPr>
          <p:cNvPr id="27" name="Oval 26"/>
          <p:cNvSpPr/>
          <p:nvPr/>
        </p:nvSpPr>
        <p:spPr>
          <a:xfrm>
            <a:off x="9848088" y="2743200"/>
            <a:ext cx="621792" cy="621792"/>
          </a:xfrm>
          <a:prstGeom prst="ellipse">
            <a:avLst/>
          </a:prstGeom>
          <a:solidFill>
            <a:srgbClr val="FFF8E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Os Entregáveis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Colab e relatório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303520"/>
            <a:ext cx="6309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t>Uma Investigação Guiada Pelas Evidências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983480"/>
            <a:ext cx="1371600" cy="914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FFF8E8"/>
                </a:solidFill>
                <a:latin typeface="Noto Sans"/>
              </a:defRPr>
            </a:pPr>
            <a: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64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" y="4407408"/>
            <a:ext cx="2510028" cy="1673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6720840" cy="29718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72768"/>
            <a:ext cx="60807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005A67"/>
                </a:solidFill>
                <a:latin typeface="Noto Sans"/>
              </a:defRPr>
            </a:pPr>
            <a:r>
              <a:t>Colaboradores chegam atrasados à linha porque os ônibus fretados não cumprem o horário planejado.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907792"/>
            <a:ext cx="594360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0">
                <a:solidFill>
                  <a:srgbClr val="17343A"/>
                </a:solidFill>
                <a:latin typeface="Noto Sans"/>
              </a:defRPr>
            </a:pPr>
            <a:r>
              <a:t>O RH precisa saber se a piora é geral, onde ela se concentra e qual explicação os dados realmente sustentam.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188720"/>
            <a:ext cx="160020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1362456"/>
            <a:ext cx="134416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92808"/>
            <a:ext cx="134416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Rotas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0616" y="1188720"/>
            <a:ext cx="160020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8632" y="1362456"/>
            <a:ext cx="134416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8632" y="1892808"/>
            <a:ext cx="134416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Turnos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2578608"/>
            <a:ext cx="3346704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2752344"/>
            <a:ext cx="309067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≤ 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282696"/>
            <a:ext cx="3090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Limite de pontualidade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3968496"/>
            <a:ext cx="3346704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82128" y="4142232"/>
            <a:ext cx="309067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15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4672583"/>
            <a:ext cx="3090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Margem até o início do turno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175504"/>
            <a:ext cx="42976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17343A"/>
                </a:solidFill>
                <a:latin typeface="Noto Sans"/>
              </a:defRPr>
            </a:pPr>
            <a:r>
              <a:t>Pontualidade geral tratada: 81.9%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5806440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Fev · Mar · Abr · Mai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17343A"/>
                </a:solidFill>
                <a:latin typeface="Noto Sans"/>
              </a:defRPr>
            </a:pPr>
            <a: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85448" y="6062472"/>
            <a:ext cx="868680" cy="868680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35624"/>
            <a:ext cx="749808" cy="749808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612880" y="676656"/>
            <a:ext cx="237744" cy="329184"/>
          </a:xfrm>
          <a:prstGeom prst="teardrop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ardrop 4"/>
          <p:cNvSpPr/>
          <p:nvPr/>
        </p:nvSpPr>
        <p:spPr>
          <a:xfrm rot="1080000">
            <a:off x="11301984" y="384048"/>
            <a:ext cx="192024" cy="274320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Perguntas e Hipóteses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024128"/>
            <a:ext cx="10744200" cy="1078992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307592"/>
            <a:ext cx="100584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A queda é geral por causa da chuva ou está concentrada em rotas, turnos e períodos específicos?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5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Chuva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A chuva forte explica a piora de pontualidade.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53712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Corredor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R03 e R05 enfrentam uma restrição compartilhada.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7616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FBE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6216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Ocorrências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Pane, trânsito e pneus explicam a mudança.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06440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Não buscamos uma resposta escondida. Construímos a explicação mais defensável.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A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FFF8E8"/>
                </a:solidFill>
                <a:latin typeface="Noto Sans"/>
              </a:defRPr>
            </a:pPr>
            <a:r>
              <a:t>Dataset e Qualidade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Variáveis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5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37A9E8"/>
                </a:solidFill>
                <a:latin typeface="Noto Sans"/>
              </a:defRPr>
            </a:pPr>
            <a:r>
              <a:t>102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5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Dias de operação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1124712"/>
            <a:ext cx="288036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1298448"/>
            <a:ext cx="262432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1504" y="1828800"/>
            <a:ext cx="262432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Viagens após deduplicar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" y="2633472"/>
            <a:ext cx="5129784" cy="324612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2852928"/>
            <a:ext cx="4480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O Que a Base Descreve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3410712"/>
            <a:ext cx="4498848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Data, turno, rota, zona e empresa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Horários previsto e realizado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Atraso, passageiros e chuva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Ocorrência registrada pelo motorista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08192" y="2633472"/>
            <a:ext cx="5303520" cy="3246120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2852928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17343A"/>
                </a:solidFill>
                <a:latin typeface="Noto Sans"/>
              </a:defRPr>
            </a:pPr>
            <a:r>
              <a:t>O Que Precisou de Cuidado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456432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456432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Duplicatas exatas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3977639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977639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Chuvas ausentes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4498848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498848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divergentes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5020056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6 + 5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5020056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e lotações inválidos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5504688"/>
            <a:ext cx="4572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80" b="1">
                <a:solidFill>
                  <a:srgbClr val="17343A"/>
                </a:solidFill>
                <a:latin typeface="Noto Sans"/>
              </a:defRPr>
            </a:pPr>
            <a:r>
              <a:t>Base preservada · indicadores comparados antes × depois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FFF8E8"/>
                </a:solidFill>
                <a:latin typeface="Noto Sans"/>
              </a:defRPr>
            </a:pPr>
            <a: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Resultado Principal</a:t>
            </a:r>
          </a:p>
        </p:txBody>
      </p:sp>
      <p:pic>
        <p:nvPicPr>
          <p:cNvPr id="7" name="Picture 6" descr="01_serie_ro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36545"/>
            <a:ext cx="8092440" cy="44329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96528" y="1216152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97696" y="1426464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17343A"/>
                </a:solidFill>
                <a:latin typeface="Noto Sans"/>
              </a:defRPr>
            </a:pPr>
            <a:r>
              <a:t>06/04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7696" y="1911095"/>
            <a:ext cx="235915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>
                <a:solidFill>
                  <a:srgbClr val="17343A"/>
                </a:solidFill>
                <a:latin typeface="Noto Sans"/>
              </a:defRPr>
            </a:pPr>
            <a:r>
              <a:t>Início da ruptura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761488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6" y="2962656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19%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544" y="3465576"/>
            <a:ext cx="2487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005A67"/>
                </a:solidFill>
                <a:latin typeface="Noto Sans"/>
              </a:defRPr>
            </a:pPr>
            <a:r>
              <a:t>Pontualidade R03/R05 · Dia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4315968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FBE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4526280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5020056"/>
            <a:ext cx="235915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>
                <a:solidFill>
                  <a:srgbClr val="005A67"/>
                </a:solidFill>
                <a:latin typeface="Noto Sans"/>
              </a:defRPr>
            </a:pPr>
            <a:r>
              <a:t>Mediana de atraso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BD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85448" y="6062472"/>
            <a:ext cx="868680" cy="868680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35624"/>
            <a:ext cx="749808" cy="749808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612880" y="676656"/>
            <a:ext cx="237744" cy="329184"/>
          </a:xfrm>
          <a:prstGeom prst="teardrop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ardrop 4"/>
          <p:cNvSpPr/>
          <p:nvPr/>
        </p:nvSpPr>
        <p:spPr>
          <a:xfrm rot="1080000">
            <a:off x="11301984" y="384048"/>
            <a:ext cx="192024" cy="274320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5A6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005A67"/>
                </a:solidFill>
                <a:latin typeface="Noto Sans"/>
              </a:defRPr>
            </a:pPr>
            <a:r>
              <a:t>Evidências e Conclusão</a:t>
            </a:r>
          </a:p>
        </p:txBody>
      </p:sp>
      <p:pic>
        <p:nvPicPr>
          <p:cNvPr id="8" name="Picture 7" descr="02_heatmap_rota_tu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0954"/>
            <a:ext cx="6016752" cy="42018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47688" y="1124712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271016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Chuva Agrava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1261872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Correlação moderada, mas o efeito aparece em toda a operação.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47688" y="2478024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624328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Obra Localiza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615184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“Obra na via” surge em 07/04 somente em R03 e R05.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47688" y="3831335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3977639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Noite Preserva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3968496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As duas rotas mantêm 96% de pontualidade no turno noturno.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47688" y="5230368"/>
            <a:ext cx="4983480" cy="804672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576" y="5440680"/>
            <a:ext cx="44988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>
                <a:solidFill>
                  <a:srgbClr val="FFF8E8"/>
                </a:solidFill>
                <a:latin typeface="Noto Sans"/>
              </a:defRPr>
            </a:pPr>
            <a:r>
              <a:t>Hipótese mais plausível: restrição diurna no corredor compartilhado.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A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Entregáveis Disponíveis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896112"/>
            <a:ext cx="102412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17343A"/>
                </a:solidFill>
                <a:latin typeface="Noto Sans"/>
              </a:defRPr>
            </a:pPr>
            <a:r>
              <a:t>A análise pode ser reproduzida no Colab e consultada em um relatório técnico descritivo.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5468112" cy="4645152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46504"/>
            <a:ext cx="4882896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Notebook no Google Colab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49424"/>
            <a:ext cx="4919472" cy="2450592"/>
          </a:xfrm>
          <a:prstGeom prst="rect">
            <a:avLst/>
          </a:prstGeom>
          <a:solidFill>
            <a:srgbClr val="FFFFFF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eview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216" y="2331720"/>
            <a:ext cx="3291839" cy="2286000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1408176" y="4956048"/>
            <a:ext cx="3931920" cy="603504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3"/>
          </p:cNvPr>
          <p:cNvSpPr txBox="1"/>
          <p:nvPr/>
        </p:nvSpPr>
        <p:spPr>
          <a:xfrm>
            <a:off x="1591056" y="515721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Notebook no Colab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42432"/>
            <a:ext cx="446227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Código, gráficos e resultados reproduzíveis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481328"/>
            <a:ext cx="5367528" cy="4645152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746504"/>
            <a:ext cx="478231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Relatório Técnico Descritivo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2249424"/>
            <a:ext cx="1920240" cy="2450592"/>
          </a:xfrm>
          <a:prstGeom prst="rect">
            <a:avLst/>
          </a:prstGeom>
          <a:solidFill>
            <a:srgbClr val="FFFFFF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review-relato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548" y="2331720"/>
            <a:ext cx="1616774" cy="228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0" y="2523744"/>
            <a:ext cx="2359152" cy="1463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350" b="0">
                <a:solidFill>
                  <a:srgbClr val="17343A"/>
                </a:solidFill>
                <a:latin typeface="Noto Sans"/>
              </a:defRPr>
            </a:pPr>
            <a:r>
              <a:t>14 páginas em formato A4 com método, evidências, tabelas, limitações e recomendações.</a:t>
            </a:r>
          </a:p>
        </p:txBody>
      </p:sp>
      <p:sp>
        <p:nvSpPr>
          <p:cNvPr id="20" name="Rounded Rectangle 19">
            <a:hlinkClick r:id="rId5"/>
          </p:cNvPr>
          <p:cNvSpPr/>
          <p:nvPr/>
        </p:nvSpPr>
        <p:spPr>
          <a:xfrm>
            <a:off x="6912864" y="4956048"/>
            <a:ext cx="3931920" cy="603504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>
            <a:hlinkClick r:id="rId5"/>
          </p:cNvPr>
          <p:cNvSpPr txBox="1"/>
          <p:nvPr/>
        </p:nvSpPr>
        <p:spPr>
          <a:xfrm>
            <a:off x="7095744" y="515721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Relatório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5742432"/>
            <a:ext cx="4526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O link também está disponível no início do notebook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17343A"/>
                </a:solidFill>
                <a:latin typeface="Noto Sans"/>
              </a:defRPr>
            </a:pPr>
            <a: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42415"/>
            <a:ext cx="7040880" cy="5321808"/>
          </a:xfrm>
          <a:prstGeom prst="roundRect">
            <a:avLst>
              <a:gd name="adj" fmla="val 5000"/>
            </a:avLst>
          </a:prstGeom>
          <a:solidFill>
            <a:srgbClr val="F2F5F5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" y="1307592"/>
            <a:ext cx="6601968" cy="4663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view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397762"/>
            <a:ext cx="6455664" cy="4483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" y="6062472"/>
            <a:ext cx="60167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Prévia real do notebook executado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133856"/>
            <a:ext cx="3675887" cy="1682496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481328"/>
            <a:ext cx="307238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300" b="1">
                <a:solidFill>
                  <a:srgbClr val="005A67"/>
                </a:solidFill>
                <a:latin typeface="Noto Sans"/>
              </a:defRPr>
            </a:pPr>
            <a:r>
              <a:t>Executar 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084831"/>
            <a:ext cx="3072384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16 células de código</a:t>
            </a:r>
            <a:br/>
            <a:r>
              <a:t>21 células de 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3108960"/>
            <a:ext cx="3675887" cy="2468880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3474720"/>
            <a:ext cx="31089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900" b="1">
                <a:solidFill>
                  <a:srgbClr val="17343A"/>
                </a:solidFill>
                <a:latin typeface="Noto Sans"/>
              </a:defRPr>
            </a:pPr>
            <a:r>
              <a:t>Roteiro da Demonstração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69080"/>
            <a:ext cx="2926080" cy="1298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Carregar a base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Executar todas as células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Explicar o achado principal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Abrir o relatório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5998464"/>
            <a:ext cx="2743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Perguntas?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 em Dia · Transporte fretado</dc:title>
  <dc:subject>Projeto integrador de Fundamentos de IA e Programação</dc:subject>
  <dc:creator>Juliana Ballin Lima; Fernanda de Oliveira da Costa; Pedro Henrique Oliveira Dias</dc:creator>
  <cp:keywords>transporte fretado, análise de dados, pontualidade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