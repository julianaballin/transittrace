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colab.research.google.com/github/JulianaBallin/TransitTrace/blob/main/transporte_fretado_rota_em_dia.ipynb" TargetMode="External"/><Relationship Id="rId4" Type="http://schemas.openxmlformats.org/officeDocument/2006/relationships/image" Target="../media/image9.png"/><Relationship Id="rId5" Type="http://schemas.openxmlformats.org/officeDocument/2006/relationships/hyperlink" Target="https://github.com/JulianaBallin/TransitTrace/blob/main/docs/relatorio/relatorio_tecnico_rota_em_dia.pdf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11612880" y="-292608"/>
            <a:ext cx="804672" cy="804672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-384048" y="6089904"/>
            <a:ext cx="932688" cy="932688"/>
          </a:xfrm>
          <a:prstGeom prst="sun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20520000">
            <a:off x="11466576" y="5879592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rota-em-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1546770"/>
            <a:ext cx="4892040" cy="24751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00600" y="1170432"/>
            <a:ext cx="6400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4200" b="1">
                <a:solidFill>
                  <a:srgbClr val="005A67"/>
                </a:solidFill>
                <a:latin typeface="Noto Sans"/>
              </a:defRPr>
            </a:pPr>
            <a:r>
              <a:t>Rota em 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8032" y="1956816"/>
            <a:ext cx="6217920" cy="1143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0">
                <a:solidFill>
                  <a:srgbClr val="17343A"/>
                </a:solidFill>
                <a:latin typeface="Noto Sans"/>
              </a:defRPr>
            </a:pPr>
            <a:r>
              <a:t>Por que os ônibus fretados</a:t>
            </a:r>
            <a:br/>
            <a:r>
              <a:t>estão chegando atrasados?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3328416"/>
            <a:ext cx="6126480" cy="1225296"/>
          </a:xfrm>
          <a:prstGeom prst="roundRect">
            <a:avLst>
              <a:gd name="adj" fmla="val 5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0" y="3584448"/>
            <a:ext cx="55778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Fundamentos de IA e Programação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3968496"/>
            <a:ext cx="5577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17343A"/>
                </a:solidFill>
                <a:latin typeface="Noto Sans"/>
              </a:defRPr>
            </a:pPr>
            <a:r>
              <a:t>Projeto Integrador · Outubro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6016752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1">
                <a:solidFill>
                  <a:srgbClr val="005A67"/>
                </a:solidFill>
                <a:latin typeface="Noto Sans"/>
              </a:defRPr>
            </a:pPr>
            <a:r>
              <a:t>Juliana Ballin Lima  ·  Fernanda de Oliveira da Costa  ·  Pedro Henrique Oliveira Dias</a:t>
            </a:r>
          </a:p>
        </p:txBody>
      </p:sp>
      <p:pic>
        <p:nvPicPr>
          <p:cNvPr id="12" name="Picture 11" descr="logo-u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1987" y="182880"/>
            <a:ext cx="1046561" cy="530352"/>
          </a:xfrm>
          <a:prstGeom prst="rect">
            <a:avLst/>
          </a:prstGeom>
        </p:spPr>
      </p:pic>
      <p:pic>
        <p:nvPicPr>
          <p:cNvPr id="13" name="Picture 12" descr="logo-siala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42132"/>
            <a:ext cx="859536" cy="61184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A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un 1"/>
          <p:cNvSpPr/>
          <p:nvPr/>
        </p:nvSpPr>
        <p:spPr>
          <a:xfrm>
            <a:off x="11521440" y="-274320"/>
            <a:ext cx="987552" cy="987552"/>
          </a:xfrm>
          <a:prstGeom prst="sun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-329184" y="6144768"/>
            <a:ext cx="768096" cy="768096"/>
          </a:xfrm>
          <a:prstGeom prst="donu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1080000">
            <a:off x="11411712" y="5907024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F8E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FFF8E8"/>
                </a:solidFill>
                <a:latin typeface="Noto Sans"/>
              </a:defRPr>
            </a:pPr>
            <a:r>
              <a:t>Sumário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25296" y="3054096"/>
            <a:ext cx="2221992" cy="0"/>
          </a:xfrm>
          <a:prstGeom prst="line">
            <a:avLst/>
          </a:prstGeom>
          <a:ln w="63500">
            <a:solidFill>
              <a:srgbClr val="FFF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447288" y="3054096"/>
            <a:ext cx="2240280" cy="0"/>
          </a:xfrm>
          <a:prstGeom prst="line">
            <a:avLst/>
          </a:prstGeom>
          <a:ln w="63500">
            <a:solidFill>
              <a:srgbClr val="FFF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687568" y="3054096"/>
            <a:ext cx="2240280" cy="0"/>
          </a:xfrm>
          <a:prstGeom prst="line">
            <a:avLst/>
          </a:prstGeom>
          <a:ln w="63500">
            <a:solidFill>
              <a:srgbClr val="FFF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27848" y="3054096"/>
            <a:ext cx="2231136" cy="0"/>
          </a:xfrm>
          <a:prstGeom prst="line">
            <a:avLst/>
          </a:prstGeom>
          <a:ln w="63500">
            <a:solidFill>
              <a:srgbClr val="FFF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14400" y="2743200"/>
            <a:ext cx="621792" cy="621792"/>
          </a:xfrm>
          <a:prstGeom prst="ellipse">
            <a:avLst/>
          </a:prstGeom>
          <a:solidFill>
            <a:srgbClr val="F06449"/>
          </a:solidFill>
          <a:ln w="2540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43784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481328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O 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1901952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"/>
              </a:defRPr>
            </a:pPr>
            <a:r>
              <a:t>Atrasos no transporte</a:t>
            </a:r>
          </a:p>
        </p:txBody>
      </p:sp>
      <p:sp>
        <p:nvSpPr>
          <p:cNvPr id="15" name="Oval 14"/>
          <p:cNvSpPr/>
          <p:nvPr/>
        </p:nvSpPr>
        <p:spPr>
          <a:xfrm>
            <a:off x="3136392" y="2743200"/>
            <a:ext cx="621792" cy="621792"/>
          </a:xfrm>
          <a:prstGeom prst="ellipse">
            <a:avLst/>
          </a:prstGeom>
          <a:solidFill>
            <a:srgbClr val="F6BD38"/>
          </a:solidFill>
          <a:ln w="2540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9544" y="2843784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767328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As Perguntas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4187952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"/>
              </a:defRPr>
            </a:pPr>
            <a:r>
              <a:t>Três hipóteses</a:t>
            </a:r>
          </a:p>
        </p:txBody>
      </p:sp>
      <p:sp>
        <p:nvSpPr>
          <p:cNvPr id="19" name="Oval 18"/>
          <p:cNvSpPr/>
          <p:nvPr/>
        </p:nvSpPr>
        <p:spPr>
          <a:xfrm>
            <a:off x="5376672" y="2743200"/>
            <a:ext cx="621792" cy="621792"/>
          </a:xfrm>
          <a:prstGeom prst="ellipse">
            <a:avLst/>
          </a:prstGeom>
          <a:solidFill>
            <a:srgbClr val="37A9E8"/>
          </a:solidFill>
          <a:ln w="2540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9824" y="2843784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1481328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O 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1901952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"/>
              </a:defRPr>
            </a:pPr>
            <a:r>
              <a:t>2.463 viagens</a:t>
            </a:r>
          </a:p>
        </p:txBody>
      </p:sp>
      <p:sp>
        <p:nvSpPr>
          <p:cNvPr id="23" name="Oval 22"/>
          <p:cNvSpPr/>
          <p:nvPr/>
        </p:nvSpPr>
        <p:spPr>
          <a:xfrm>
            <a:off x="7616952" y="2743200"/>
            <a:ext cx="621792" cy="621792"/>
          </a:xfrm>
          <a:prstGeom prst="ellipse">
            <a:avLst/>
          </a:prstGeom>
          <a:solidFill>
            <a:srgbClr val="F06449"/>
          </a:solidFill>
          <a:ln w="2540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90104" y="2843784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767328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O Achado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4187952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"/>
              </a:defRPr>
            </a:pPr>
            <a:r>
              <a:t>R03 e R05 desde 06/04</a:t>
            </a:r>
          </a:p>
        </p:txBody>
      </p:sp>
      <p:sp>
        <p:nvSpPr>
          <p:cNvPr id="27" name="Oval 26"/>
          <p:cNvSpPr/>
          <p:nvPr/>
        </p:nvSpPr>
        <p:spPr>
          <a:xfrm>
            <a:off x="9848088" y="2743200"/>
            <a:ext cx="621792" cy="621792"/>
          </a:xfrm>
          <a:prstGeom prst="ellipse">
            <a:avLst/>
          </a:prstGeom>
          <a:solidFill>
            <a:srgbClr val="FFF8E8"/>
          </a:solidFill>
          <a:ln w="2540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2843784"/>
            <a:ext cx="4754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2000" b="1">
                <a:solidFill>
                  <a:srgbClr val="17343A"/>
                </a:solidFill>
                <a:latin typeface="Noto Sans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7736" y="1481328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Os Entregáveis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7736" y="1901952"/>
            <a:ext cx="16824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Noto Sans"/>
              </a:defRPr>
            </a:pPr>
            <a:r>
              <a:t>Colab e relatório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303520"/>
            <a:ext cx="63093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"/>
              </a:defRPr>
            </a:pPr>
            <a:r>
              <a:t>Uma Investigação Guiada Pelas Evidências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983480"/>
            <a:ext cx="1371600" cy="914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FFF8E8"/>
                </a:solidFill>
                <a:latin typeface="Noto Sans"/>
              </a:defRPr>
            </a:pPr>
            <a: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64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11612880" y="-292608"/>
            <a:ext cx="804672" cy="804672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-384048" y="6089904"/>
            <a:ext cx="932688" cy="932688"/>
          </a:xfrm>
          <a:prstGeom prst="sun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20520000">
            <a:off x="11466576" y="5879592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6" y="4407408"/>
            <a:ext cx="2510028" cy="1673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Problema e Pergunta Central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15568"/>
            <a:ext cx="6720840" cy="32004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371600"/>
            <a:ext cx="6080760" cy="6035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Colaboradores chegam atrasados à linha porque os ônibus fretados não cumprem o horário planejado.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084831"/>
            <a:ext cx="5943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06449"/>
                </a:solidFill>
                <a:latin typeface="Noto Sans"/>
              </a:defRPr>
            </a:pPr>
            <a:r>
              <a:t>PERGUNTA CENTRAL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423160"/>
            <a:ext cx="5989320" cy="1444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000" b="1">
                <a:solidFill>
                  <a:srgbClr val="005A67"/>
                </a:solidFill>
                <a:latin typeface="Noto Sans"/>
              </a:defRPr>
            </a:pPr>
            <a:r>
              <a:t>Por que os atrasos do transporte fretado aumentaram, onde se concentram e quais evidências sustentam a explicação mais plausível?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54112" y="1188720"/>
            <a:ext cx="1600200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8" y="1362456"/>
            <a:ext cx="1344168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892808"/>
            <a:ext cx="134416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Rotas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0616" y="1188720"/>
            <a:ext cx="1600200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8632" y="1362456"/>
            <a:ext cx="1344168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06449"/>
                </a:solidFill>
                <a:latin typeface="Noto San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8632" y="1892808"/>
            <a:ext cx="134416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Turnos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54112" y="2578608"/>
            <a:ext cx="3346704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8" y="2752344"/>
            <a:ext cx="3090672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≤ 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8" y="3282696"/>
            <a:ext cx="30906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Limite de pontualidade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54112" y="3968496"/>
            <a:ext cx="3346704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82128" y="4142232"/>
            <a:ext cx="3090672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06449"/>
                </a:solidFill>
                <a:latin typeface="Noto Sans"/>
              </a:defRPr>
            </a:pPr>
            <a: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8" y="4672583"/>
            <a:ext cx="30906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Margem até o início do turno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5175504"/>
            <a:ext cx="42976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17343A"/>
                </a:solidFill>
                <a:latin typeface="Noto Sans"/>
              </a:defRPr>
            </a:pPr>
            <a:r>
              <a:t>Pontualidade geral tratada: 81.9%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28431" y="5806440"/>
            <a:ext cx="29260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Fev · Mar · Abr · Mai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17343A"/>
                </a:solidFill>
                <a:latin typeface="Noto Sans"/>
              </a:defRPr>
            </a:pPr>
            <a: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un 1"/>
          <p:cNvSpPr/>
          <p:nvPr/>
        </p:nvSpPr>
        <p:spPr>
          <a:xfrm>
            <a:off x="11585448" y="6062472"/>
            <a:ext cx="868680" cy="868680"/>
          </a:xfrm>
          <a:prstGeom prst="sun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-329184" y="6135624"/>
            <a:ext cx="749808" cy="749808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1080000">
            <a:off x="11612880" y="676656"/>
            <a:ext cx="237744" cy="329184"/>
          </a:xfrm>
          <a:prstGeom prst="teardrop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ardrop 4"/>
          <p:cNvSpPr/>
          <p:nvPr/>
        </p:nvSpPr>
        <p:spPr>
          <a:xfrm rot="1080000">
            <a:off x="11301984" y="384048"/>
            <a:ext cx="192024" cy="274320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Hipóteses Para Responder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024128"/>
            <a:ext cx="10744200" cy="1078992"/>
          </a:xfrm>
          <a:prstGeom prst="roundRect">
            <a:avLst>
              <a:gd name="adj" fmla="val 5000"/>
            </a:avLst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307592"/>
            <a:ext cx="100584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FFF8E8"/>
                </a:solidFill>
                <a:latin typeface="Noto Sans"/>
              </a:defRPr>
            </a:pPr>
            <a:r>
              <a:t>Testamos três explicações concorrentes para responder por que os atrasos aumentaram.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514600"/>
            <a:ext cx="3364992" cy="2606040"/>
          </a:xfrm>
          <a:prstGeom prst="roundRect">
            <a:avLst>
              <a:gd name="adj" fmla="val 5000"/>
            </a:avLst>
          </a:prstGeom>
          <a:solidFill>
            <a:srgbClr val="C7E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7" y="2734056"/>
            <a:ext cx="6583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5" y="2788920"/>
            <a:ext cx="2057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5A67"/>
                </a:solidFill>
                <a:latin typeface="Noto Sans"/>
              </a:defRPr>
            </a:pPr>
            <a:r>
              <a:t>Chuva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483864"/>
            <a:ext cx="27889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0">
                <a:solidFill>
                  <a:srgbClr val="17343A"/>
                </a:solidFill>
                <a:latin typeface="Noto Sans"/>
              </a:defRPr>
            </a:pPr>
            <a:r>
              <a:t>A chuva forte explica a piora de pontualidade.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599432"/>
            <a:ext cx="2560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Testar · Comparar · Limitar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53712" y="2514600"/>
            <a:ext cx="3364992" cy="2606040"/>
          </a:xfrm>
          <a:prstGeom prst="roundRect">
            <a:avLst>
              <a:gd name="adj" fmla="val 5000"/>
            </a:avLst>
          </a:prstGeom>
          <a:solidFill>
            <a:srgbClr val="F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82312" y="2734056"/>
            <a:ext cx="6583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H2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788920"/>
            <a:ext cx="2057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5A67"/>
                </a:solidFill>
                <a:latin typeface="Noto Sans"/>
              </a:defRPr>
            </a:pPr>
            <a:r>
              <a:t>Corredor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3483864"/>
            <a:ext cx="27889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0">
                <a:solidFill>
                  <a:srgbClr val="17343A"/>
                </a:solidFill>
                <a:latin typeface="Noto Sans"/>
              </a:defRPr>
            </a:pPr>
            <a:r>
              <a:t>R03 e R05 enfrentam uma restrição compartilhada.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599432"/>
            <a:ext cx="2560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Testar · Comparar · Limitar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57616" y="2514600"/>
            <a:ext cx="3364992" cy="2606040"/>
          </a:xfrm>
          <a:prstGeom prst="roundRect">
            <a:avLst>
              <a:gd name="adj" fmla="val 5000"/>
            </a:avLst>
          </a:prstGeom>
          <a:solidFill>
            <a:srgbClr val="FBE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86216" y="2734056"/>
            <a:ext cx="658368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H3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788920"/>
            <a:ext cx="2057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5A67"/>
                </a:solidFill>
                <a:latin typeface="Noto Sans"/>
              </a:defRPr>
            </a:pPr>
            <a:r>
              <a:t>Ocorrências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1936" y="3483864"/>
            <a:ext cx="27889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0">
                <a:solidFill>
                  <a:srgbClr val="17343A"/>
                </a:solidFill>
                <a:latin typeface="Noto Sans"/>
              </a:defRPr>
            </a:pPr>
            <a:r>
              <a:t>Pane, trânsito e pneus explicam a mudança.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41664" y="4599432"/>
            <a:ext cx="2560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Testar · Comparar · Limitar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806440"/>
            <a:ext cx="8961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Cada hipótese foi confrontada com evidências, comparações e limitações.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A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un 1"/>
          <p:cNvSpPr/>
          <p:nvPr/>
        </p:nvSpPr>
        <p:spPr>
          <a:xfrm>
            <a:off x="11521440" y="-274320"/>
            <a:ext cx="987552" cy="987552"/>
          </a:xfrm>
          <a:prstGeom prst="sun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-329184" y="6144768"/>
            <a:ext cx="768096" cy="768096"/>
          </a:xfrm>
          <a:prstGeom prst="donu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1080000">
            <a:off x="11411712" y="5907024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F8E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FFF8E8"/>
                </a:solidFill>
                <a:latin typeface="Noto Sans"/>
              </a:defRPr>
            </a:pPr>
            <a:r>
              <a:t>Dataset e Qualidade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124712"/>
            <a:ext cx="2048256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98448"/>
            <a:ext cx="179222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06449"/>
                </a:solidFill>
                <a:latin typeface="Noto Sans"/>
              </a:defRPr>
            </a:pPr>
            <a:r>
              <a:t>2.463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792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Linhas recebidas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2" y="1124712"/>
            <a:ext cx="2048256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35808" y="1298448"/>
            <a:ext cx="179222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5A67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1828800"/>
            <a:ext cx="1792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Variáveis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124712"/>
            <a:ext cx="2048256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8655" y="1298448"/>
            <a:ext cx="179222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37A9E8"/>
                </a:solidFill>
                <a:latin typeface="Noto Sans"/>
              </a:defRPr>
            </a:pPr>
            <a:r>
              <a:t>102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8655" y="1828800"/>
            <a:ext cx="1792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Dias de operação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1124712"/>
            <a:ext cx="2880360" cy="114300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1504" y="1298448"/>
            <a:ext cx="2624328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06449"/>
                </a:solidFill>
                <a:latin typeface="Noto Sans"/>
              </a:defRPr>
            </a:pPr>
            <a:r>
              <a:t>2.448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1504" y="1828800"/>
            <a:ext cx="262432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7343A"/>
                </a:solidFill>
                <a:latin typeface="Noto Sans"/>
              </a:defRPr>
            </a:pPr>
            <a:r>
              <a:t>Viagens após deduplicar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" y="2633472"/>
            <a:ext cx="5129784" cy="3246120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2852928"/>
            <a:ext cx="4480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005A67"/>
                </a:solidFill>
                <a:latin typeface="Noto Sans"/>
              </a:defRPr>
            </a:pPr>
            <a:r>
              <a:t>O Que a Base Descreve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3410712"/>
            <a:ext cx="4498848" cy="20116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•  Data, turno, rota, zona e empresa</a:t>
            </a:r>
          </a:p>
          <a:p>
            <a:pPr>
              <a:spcAft>
                <a:spcPts val="11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•  Horários previsto e realizado</a:t>
            </a:r>
          </a:p>
          <a:p>
            <a:pPr>
              <a:spcAft>
                <a:spcPts val="11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•  Atraso, passageiros e chuva</a:t>
            </a:r>
          </a:p>
          <a:p>
            <a:pPr>
              <a:spcAft>
                <a:spcPts val="1100"/>
              </a:spcAft>
              <a:defRPr sz="1500">
                <a:solidFill>
                  <a:srgbClr val="17343A"/>
                </a:solidFill>
                <a:latin typeface="Noto Sans"/>
              </a:defRPr>
            </a:pPr>
            <a:r>
              <a:t>•  Ocorrência registrada pelo motorista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08192" y="2633472"/>
            <a:ext cx="5303520" cy="3246120"/>
          </a:xfrm>
          <a:prstGeom prst="roundRect">
            <a:avLst>
              <a:gd name="adj" fmla="val 5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2852928"/>
            <a:ext cx="4663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17343A"/>
                </a:solidFill>
                <a:latin typeface="Noto Sans"/>
              </a:defRPr>
            </a:pPr>
            <a:r>
              <a:t>O Que Precisou de Cuidado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3456432"/>
            <a:ext cx="822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17343A"/>
                </a:solidFill>
                <a:latin typeface="Noto Sans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456432"/>
            <a:ext cx="3474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Duplicatas exatas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3977639"/>
            <a:ext cx="822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17343A"/>
                </a:solidFill>
                <a:latin typeface="Noto Sans"/>
              </a:defRPr>
            </a:pPr>
            <a:r>
              <a:t>145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977639"/>
            <a:ext cx="3474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Chuvas ausentes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4498848"/>
            <a:ext cx="822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17343A"/>
                </a:solidFill>
                <a:latin typeface="Noto Sans"/>
              </a:defRPr>
            </a:pPr>
            <a: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4498848"/>
            <a:ext cx="3474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Atrasos divergentes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944" y="5020056"/>
            <a:ext cx="8229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600" b="1">
                <a:solidFill>
                  <a:srgbClr val="17343A"/>
                </a:solidFill>
                <a:latin typeface="Noto Sans"/>
              </a:defRPr>
            </a:pPr>
            <a:r>
              <a:t>6 + 5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5020056"/>
            <a:ext cx="3474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Atrasos e lotações inválidos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28232" y="5504688"/>
            <a:ext cx="4572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80" b="1">
                <a:solidFill>
                  <a:srgbClr val="17343A"/>
                </a:solidFill>
                <a:latin typeface="Noto Sans"/>
              </a:defRPr>
            </a:pPr>
            <a:r>
              <a:t>Base preservada · indicadores comparados antes × depois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FFF8E8"/>
                </a:solidFill>
                <a:latin typeface="Noto Sans"/>
              </a:defRPr>
            </a:pPr>
            <a: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11612880" y="-292608"/>
            <a:ext cx="804672" cy="804672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-384048" y="6089904"/>
            <a:ext cx="932688" cy="932688"/>
          </a:xfrm>
          <a:prstGeom prst="sun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20520000">
            <a:off x="11466576" y="5879592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Resultado Principal</a:t>
            </a:r>
          </a:p>
        </p:txBody>
      </p:sp>
      <p:pic>
        <p:nvPicPr>
          <p:cNvPr id="7" name="Picture 6" descr="01_serie_ro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36545"/>
            <a:ext cx="8092440" cy="443296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96528" y="1216152"/>
            <a:ext cx="2788920" cy="1261872"/>
          </a:xfrm>
          <a:prstGeom prst="roundRect">
            <a:avLst>
              <a:gd name="adj" fmla="val 5000"/>
            </a:avLst>
          </a:prstGeom>
          <a:solidFill>
            <a:srgbClr val="F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97696" y="1426464"/>
            <a:ext cx="235915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800" b="1">
                <a:solidFill>
                  <a:srgbClr val="17343A"/>
                </a:solidFill>
                <a:latin typeface="Noto Sans"/>
              </a:defRPr>
            </a:pPr>
            <a:r>
              <a:t>06/04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7696" y="1911095"/>
            <a:ext cx="235915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>
                <a:solidFill>
                  <a:srgbClr val="17343A"/>
                </a:solidFill>
                <a:latin typeface="Noto Sans"/>
              </a:defRPr>
            </a:pPr>
            <a:r>
              <a:t>Início da ruptura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96528" y="2761488"/>
            <a:ext cx="2788920" cy="1261872"/>
          </a:xfrm>
          <a:prstGeom prst="roundRect">
            <a:avLst>
              <a:gd name="adj" fmla="val 5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6" y="2962656"/>
            <a:ext cx="235915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800" b="1">
                <a:solidFill>
                  <a:srgbClr val="005A67"/>
                </a:solidFill>
                <a:latin typeface="Noto Sans"/>
              </a:defRPr>
            </a:pPr>
            <a:r>
              <a:t>19%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24544" y="3465576"/>
            <a:ext cx="248716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005A67"/>
                </a:solidFill>
                <a:latin typeface="Noto Sans"/>
              </a:defRPr>
            </a:pPr>
            <a:r>
              <a:t>Pontualidade R03/R05 · Dia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96528" y="4315968"/>
            <a:ext cx="2788920" cy="1261872"/>
          </a:xfrm>
          <a:prstGeom prst="roundRect">
            <a:avLst>
              <a:gd name="adj" fmla="val 5000"/>
            </a:avLst>
          </a:prstGeom>
          <a:solidFill>
            <a:srgbClr val="FBE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4526280"/>
            <a:ext cx="235915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800" b="1">
                <a:solidFill>
                  <a:srgbClr val="005A67"/>
                </a:solidFill>
                <a:latin typeface="Noto Sans"/>
              </a:defRPr>
            </a:pPr>
            <a: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5020056"/>
            <a:ext cx="235915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>
                <a:solidFill>
                  <a:srgbClr val="005A67"/>
                </a:solidFill>
                <a:latin typeface="Noto Sans"/>
              </a:defRPr>
            </a:pPr>
            <a:r>
              <a:t>Mediana de atraso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BD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un 1"/>
          <p:cNvSpPr/>
          <p:nvPr/>
        </p:nvSpPr>
        <p:spPr>
          <a:xfrm>
            <a:off x="11585448" y="6062472"/>
            <a:ext cx="868680" cy="868680"/>
          </a:xfrm>
          <a:prstGeom prst="sun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-329184" y="6135624"/>
            <a:ext cx="749808" cy="749808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1080000">
            <a:off x="11612880" y="676656"/>
            <a:ext cx="237744" cy="329184"/>
          </a:xfrm>
          <a:prstGeom prst="teardrop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ardrop 4"/>
          <p:cNvSpPr/>
          <p:nvPr/>
        </p:nvSpPr>
        <p:spPr>
          <a:xfrm rot="1080000">
            <a:off x="11301984" y="384048"/>
            <a:ext cx="192024" cy="274320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005A67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005A67"/>
                </a:solidFill>
                <a:latin typeface="Noto Sans"/>
              </a:defRPr>
            </a:pPr>
            <a:r>
              <a:t>Resposta à Pergunta Central</a:t>
            </a:r>
          </a:p>
        </p:txBody>
      </p:sp>
      <p:pic>
        <p:nvPicPr>
          <p:cNvPr id="8" name="Picture 7" descr="02_heatmap_rota_tu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0954"/>
            <a:ext cx="6016752" cy="42018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47688" y="1124712"/>
            <a:ext cx="4983480" cy="1078992"/>
          </a:xfrm>
          <a:prstGeom prst="roundRect">
            <a:avLst>
              <a:gd name="adj" fmla="val 5000"/>
            </a:avLst>
          </a:prstGeom>
          <a:solidFill>
            <a:srgbClr val="C7E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271016"/>
            <a:ext cx="150876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Onde?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48472" y="1261872"/>
            <a:ext cx="297180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7343A"/>
                </a:solidFill>
                <a:latin typeface="Noto Sans"/>
              </a:defRPr>
            </a:pPr>
            <a:r>
              <a:t>R03 e R05, nos turnos da manhã e tarde, desde 06/04.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47688" y="2478024"/>
            <a:ext cx="4983480" cy="1078992"/>
          </a:xfrm>
          <a:prstGeom prst="roundRect">
            <a:avLst>
              <a:gd name="adj" fmla="val 5000"/>
            </a:avLst>
          </a:prstGeom>
          <a:solidFill>
            <a:srgbClr val="F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624328"/>
            <a:ext cx="150876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Por quê?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2" y="2615184"/>
            <a:ext cx="297180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7343A"/>
                </a:solidFill>
                <a:latin typeface="Noto Sans"/>
              </a:defRPr>
            </a:pPr>
            <a:r>
              <a:t>Restrição diurna no corredor é a explicação mais plausível.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47688" y="3831335"/>
            <a:ext cx="4983480" cy="1078992"/>
          </a:xfrm>
          <a:prstGeom prst="roundRect">
            <a:avLst>
              <a:gd name="adj" fmla="val 5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3977639"/>
            <a:ext cx="150876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>
                <a:solidFill>
                  <a:srgbClr val="005A67"/>
                </a:solidFill>
                <a:latin typeface="Noto Sans"/>
              </a:defRPr>
            </a:pPr>
            <a:r>
              <a:t>Evidências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3968496"/>
            <a:ext cx="297180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7343A"/>
                </a:solidFill>
                <a:latin typeface="Noto Sans"/>
              </a:defRPr>
            </a:pPr>
            <a:r>
              <a:t>Média móvel, heatmap, distribuição, chuva controlada e registros de obra.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47688" y="5230368"/>
            <a:ext cx="4983480" cy="804672"/>
          </a:xfrm>
          <a:prstGeom prst="roundRect">
            <a:avLst>
              <a:gd name="adj" fmla="val 5000"/>
            </a:avLst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4576" y="5440680"/>
            <a:ext cx="44988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8E8"/>
                </a:solidFill>
                <a:latin typeface="Noto Sans"/>
              </a:defRPr>
            </a:pPr>
            <a:r>
              <a:t>A resposta ainda precisa de confirmação com GPS e cronogramas de obra.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A9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un 1"/>
          <p:cNvSpPr/>
          <p:nvPr/>
        </p:nvSpPr>
        <p:spPr>
          <a:xfrm>
            <a:off x="11521440" y="-274320"/>
            <a:ext cx="987552" cy="987552"/>
          </a:xfrm>
          <a:prstGeom prst="sun">
            <a:avLst/>
          </a:prstGeom>
          <a:solidFill>
            <a:srgbClr val="F6BD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-329184" y="6144768"/>
            <a:ext cx="768096" cy="768096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1080000">
            <a:off x="11411712" y="5907024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Entregáveis Disponíveis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896112"/>
            <a:ext cx="102412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700" b="1">
                <a:solidFill>
                  <a:srgbClr val="17343A"/>
                </a:solidFill>
                <a:latin typeface="Noto Sans"/>
              </a:defRPr>
            </a:pPr>
            <a:r>
              <a:t>A análise pode ser reproduzida no Colab e consultada em um relatório técnico descritivo.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81328"/>
            <a:ext cx="5468112" cy="4645152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46504"/>
            <a:ext cx="4882896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1">
                <a:solidFill>
                  <a:srgbClr val="005A67"/>
                </a:solidFill>
                <a:latin typeface="Noto Sans"/>
              </a:defRPr>
            </a:pPr>
            <a:r>
              <a:t>Notebook no Google Colab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249424"/>
            <a:ext cx="4919472" cy="2450592"/>
          </a:xfrm>
          <a:prstGeom prst="rect">
            <a:avLst/>
          </a:prstGeom>
          <a:solidFill>
            <a:srgbClr val="FFFFFF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review-note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216" y="2331720"/>
            <a:ext cx="3291839" cy="2286000"/>
          </a:xfrm>
          <a:prstGeom prst="rect">
            <a:avLst/>
          </a:prstGeom>
        </p:spPr>
      </p:pic>
      <p:sp>
        <p:nvSpPr>
          <p:cNvPr id="12" name="Rounded Rectangle 11">
            <a:hlinkClick r:id="rId3"/>
          </p:cNvPr>
          <p:cNvSpPr/>
          <p:nvPr/>
        </p:nvSpPr>
        <p:spPr>
          <a:xfrm>
            <a:off x="1408176" y="4956048"/>
            <a:ext cx="3931920" cy="603504"/>
          </a:xfrm>
          <a:prstGeom prst="roundRect">
            <a:avLst>
              <a:gd name="adj" fmla="val 5000"/>
            </a:avLst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>
            <a:hlinkClick r:id="rId3"/>
          </p:cNvPr>
          <p:cNvSpPr txBox="1"/>
          <p:nvPr/>
        </p:nvSpPr>
        <p:spPr>
          <a:xfrm>
            <a:off x="1591056" y="515721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350" b="1">
                <a:solidFill>
                  <a:srgbClr val="FFF8E8"/>
                </a:solidFill>
                <a:latin typeface="Noto Sans"/>
              </a:defRPr>
            </a:pPr>
            <a:r>
              <a:t>Abrir Notebook no Colab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742432"/>
            <a:ext cx="446227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005A67"/>
                </a:solidFill>
                <a:latin typeface="Noto Sans"/>
              </a:defRPr>
            </a:pPr>
            <a:r>
              <a:t>Código, gráficos e resultados reproduzíveis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481328"/>
            <a:ext cx="5367528" cy="4645152"/>
          </a:xfrm>
          <a:prstGeom prst="roundRect">
            <a:avLst>
              <a:gd name="adj" fmla="val 5000"/>
            </a:avLst>
          </a:prstGeom>
          <a:solidFill>
            <a:srgbClr val="FFF8E8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746504"/>
            <a:ext cx="4782312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1">
                <a:solidFill>
                  <a:srgbClr val="005A67"/>
                </a:solidFill>
                <a:latin typeface="Noto Sans"/>
              </a:defRPr>
            </a:pPr>
            <a:r>
              <a:t>Relatório Técnico Descritivo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2249424"/>
            <a:ext cx="1920240" cy="2450592"/>
          </a:xfrm>
          <a:prstGeom prst="rect">
            <a:avLst/>
          </a:prstGeom>
          <a:solidFill>
            <a:srgbClr val="FFFFFF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review-relator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548" y="2331720"/>
            <a:ext cx="1616774" cy="228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86800" y="2523744"/>
            <a:ext cx="2359152" cy="1463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1350" b="0">
                <a:solidFill>
                  <a:srgbClr val="17343A"/>
                </a:solidFill>
                <a:latin typeface="Noto Sans"/>
              </a:defRPr>
            </a:pPr>
            <a:r>
              <a:t>14 páginas em formato A4 com método, evidências, tabelas, limitações e recomendações.</a:t>
            </a:r>
          </a:p>
        </p:txBody>
      </p:sp>
      <p:sp>
        <p:nvSpPr>
          <p:cNvPr id="20" name="Rounded Rectangle 19">
            <a:hlinkClick r:id="rId5"/>
          </p:cNvPr>
          <p:cNvSpPr/>
          <p:nvPr/>
        </p:nvSpPr>
        <p:spPr>
          <a:xfrm>
            <a:off x="6912864" y="4956048"/>
            <a:ext cx="3931920" cy="603504"/>
          </a:xfrm>
          <a:prstGeom prst="roundRect">
            <a:avLst>
              <a:gd name="adj" fmla="val 5000"/>
            </a:avLst>
          </a:prstGeom>
          <a:solidFill>
            <a:srgbClr val="005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>
            <a:hlinkClick r:id="rId5"/>
          </p:cNvPr>
          <p:cNvSpPr txBox="1"/>
          <p:nvPr/>
        </p:nvSpPr>
        <p:spPr>
          <a:xfrm>
            <a:off x="7095744" y="515721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350" b="1">
                <a:solidFill>
                  <a:srgbClr val="FFF8E8"/>
                </a:solidFill>
                <a:latin typeface="Noto Sans"/>
              </a:defRPr>
            </a:pPr>
            <a:r>
              <a:t>Abrir Relatório Técnico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5742432"/>
            <a:ext cx="4526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005A67"/>
                </a:solidFill>
                <a:latin typeface="Noto Sans"/>
              </a:defRPr>
            </a:pPr>
            <a:r>
              <a:t>O link também está disponível no início do notebook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17343A"/>
                </a:solidFill>
                <a:latin typeface="Noto Sans"/>
              </a:defRPr>
            </a:pPr>
            <a: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11612880" y="-292608"/>
            <a:ext cx="804672" cy="804672"/>
          </a:xfrm>
          <a:prstGeom prst="donut">
            <a:avLst/>
          </a:prstGeom>
          <a:solidFill>
            <a:srgbClr val="65C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-384048" y="6089904"/>
            <a:ext cx="932688" cy="932688"/>
          </a:xfrm>
          <a:prstGeom prst="sun">
            <a:avLst/>
          </a:prstGeom>
          <a:solidFill>
            <a:srgbClr val="F06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ardrop 3"/>
          <p:cNvSpPr/>
          <p:nvPr/>
        </p:nvSpPr>
        <p:spPr>
          <a:xfrm rot="20520000">
            <a:off x="11466576" y="5879592"/>
            <a:ext cx="256032" cy="347472"/>
          </a:xfrm>
          <a:prstGeom prst="teardrop">
            <a:avLst/>
          </a:prstGeom>
          <a:solidFill>
            <a:srgbClr val="37A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2004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17343A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7744"/>
            <a:ext cx="106070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>
                <a:solidFill>
                  <a:srgbClr val="17343A"/>
                </a:solidFill>
                <a:latin typeface="Noto Sans"/>
              </a:defRPr>
            </a:pPr>
            <a:r>
              <a:t>Demonstração do Notebook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042415"/>
            <a:ext cx="7040880" cy="5321808"/>
          </a:xfrm>
          <a:prstGeom prst="roundRect">
            <a:avLst>
              <a:gd name="adj" fmla="val 5000"/>
            </a:avLst>
          </a:prstGeom>
          <a:solidFill>
            <a:srgbClr val="F2F5F5"/>
          </a:solidFill>
          <a:ln w="15240">
            <a:solidFill>
              <a:srgbClr val="005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9536" y="1307592"/>
            <a:ext cx="6601968" cy="4663440"/>
          </a:xfrm>
          <a:prstGeom prst="rect">
            <a:avLst/>
          </a:prstGeom>
          <a:solidFill>
            <a:srgbClr val="FFFFFF"/>
          </a:solidFill>
          <a:ln w="15240">
            <a:solidFill>
              <a:srgbClr val="D0D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eview-note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397762"/>
            <a:ext cx="6455664" cy="44831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52144" y="6062472"/>
            <a:ext cx="601675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005A67"/>
                </a:solidFill>
                <a:latin typeface="Noto Sans"/>
              </a:defRPr>
            </a:pPr>
            <a:r>
              <a:t>Prévia real do notebook executado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133856"/>
            <a:ext cx="3675887" cy="1682496"/>
          </a:xfrm>
          <a:prstGeom prst="roundRect">
            <a:avLst>
              <a:gd name="adj" fmla="val 5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481328"/>
            <a:ext cx="3072384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300" b="1">
                <a:solidFill>
                  <a:srgbClr val="005A67"/>
                </a:solidFill>
                <a:latin typeface="Noto Sans"/>
              </a:defRPr>
            </a:pPr>
            <a:r>
              <a:t>Executar Tudo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084831"/>
            <a:ext cx="3072384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0">
                <a:solidFill>
                  <a:srgbClr val="17343A"/>
                </a:solidFill>
                <a:latin typeface="Noto Sans"/>
              </a:defRPr>
            </a:pPr>
            <a:r>
              <a:t>16 células de código</a:t>
            </a:r>
            <a:br/>
            <a:r>
              <a:t>21 células de texto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82127" y="3108960"/>
            <a:ext cx="3675887" cy="2468880"/>
          </a:xfrm>
          <a:prstGeom prst="roundRect">
            <a:avLst>
              <a:gd name="adj" fmla="val 5000"/>
            </a:avLst>
          </a:prstGeom>
          <a:solidFill>
            <a:srgbClr val="F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65592" y="3474720"/>
            <a:ext cx="31089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900" b="1">
                <a:solidFill>
                  <a:srgbClr val="17343A"/>
                </a:solidFill>
                <a:latin typeface="Noto Sans"/>
              </a:defRPr>
            </a:pPr>
            <a:r>
              <a:t>Roteiro da Demonstração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069080"/>
            <a:ext cx="2926080" cy="1298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7343A"/>
                </a:solidFill>
                <a:latin typeface="Noto Sans"/>
              </a:defRPr>
            </a:pPr>
            <a:r>
              <a:t>•  Carregar a base</a:t>
            </a:r>
          </a:p>
          <a:p>
            <a:pPr>
              <a:spcAft>
                <a:spcPts val="600"/>
              </a:spcAft>
              <a:defRPr sz="1300">
                <a:solidFill>
                  <a:srgbClr val="17343A"/>
                </a:solidFill>
                <a:latin typeface="Noto Sans"/>
              </a:defRPr>
            </a:pPr>
            <a:r>
              <a:t>•  Executar todas as células</a:t>
            </a:r>
          </a:p>
          <a:p>
            <a:pPr>
              <a:spcAft>
                <a:spcPts val="600"/>
              </a:spcAft>
              <a:defRPr sz="1300">
                <a:solidFill>
                  <a:srgbClr val="17343A"/>
                </a:solidFill>
                <a:latin typeface="Noto Sans"/>
              </a:defRPr>
            </a:pPr>
            <a:r>
              <a:t>•  Explicar o achado principal</a:t>
            </a:r>
          </a:p>
          <a:p>
            <a:pPr>
              <a:spcAft>
                <a:spcPts val="600"/>
              </a:spcAft>
              <a:defRPr sz="1300">
                <a:solidFill>
                  <a:srgbClr val="17343A"/>
                </a:solidFill>
                <a:latin typeface="Noto Sans"/>
              </a:defRPr>
            </a:pPr>
            <a:r>
              <a:t>•  Abrir o relatório técnico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5998464"/>
            <a:ext cx="27432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1">
                <a:solidFill>
                  <a:srgbClr val="005A67"/>
                </a:solidFill>
                <a:latin typeface="Noto Sans"/>
              </a:defRPr>
            </a:pPr>
            <a:r>
              <a:t>Perguntas?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27080" y="644652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1000" b="1">
                <a:solidFill>
                  <a:srgbClr val="005A67"/>
                </a:solidFill>
                <a:latin typeface="Noto Sans"/>
              </a:defRPr>
            </a:pPr>
            <a: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Rota em Dia · Transporte fretado</dc:title>
  <dc:subject>Projeto integrador de Fundamentos de IA e Programação</dc:subject>
  <dc:creator>Juliana Ballin Lima; Fernanda de Oliveira da Costa; Pedro Henrique Oliveira Dias</dc:creator>
  <cp:keywords>transporte fretado, análise de dados, pontualidade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