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01168" y="-182880"/>
            <a:ext cx="676656" cy="676656"/>
          </a:xfrm>
          <a:prstGeom prst="ellipse">
            <a:avLst/>
          </a:prstGeom>
          <a:solidFill>
            <a:srgbClr val="F6B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11338560" y="-164592"/>
            <a:ext cx="868680" cy="868680"/>
          </a:xfrm>
          <a:prstGeom prst="arc">
            <a:avLst/>
          </a:prstGeom>
          <a:solidFill>
            <a:srgbClr val="37A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8-Point Star 3"/>
          <p:cNvSpPr/>
          <p:nvPr/>
        </p:nvSpPr>
        <p:spPr>
          <a:xfrm>
            <a:off x="11411712" y="6053328"/>
            <a:ext cx="640080" cy="640080"/>
          </a:xfrm>
          <a:prstGeom prst="star8">
            <a:avLst/>
          </a:prstGeom>
          <a:solidFill>
            <a:srgbClr val="F06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oon 4"/>
          <p:cNvSpPr/>
          <p:nvPr/>
        </p:nvSpPr>
        <p:spPr>
          <a:xfrm>
            <a:off x="-219456" y="5989320"/>
            <a:ext cx="658368" cy="658368"/>
          </a:xfrm>
          <a:prstGeom prst="moon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rota-em-d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05457"/>
            <a:ext cx="4572000" cy="23132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00600" y="1170432"/>
            <a:ext cx="6400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4200" b="1">
                <a:solidFill>
                  <a:srgbClr val="005A67"/>
                </a:solidFill>
                <a:latin typeface="Noto Sans"/>
              </a:defRPr>
            </a:pPr>
            <a:r>
              <a:t>Rota em 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8032" y="1956816"/>
            <a:ext cx="6217920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0">
                <a:solidFill>
                  <a:srgbClr val="17343A"/>
                </a:solidFill>
                <a:latin typeface="Noto Sans"/>
              </a:defRPr>
            </a:pPr>
            <a:r>
              <a:t>Por que os ônibus fretados</a:t>
            </a:r>
            <a:br/>
            <a:r>
              <a:t>estão chegando atrasados?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3328416"/>
            <a:ext cx="6126480" cy="1225296"/>
          </a:xfrm>
          <a:prstGeom prst="roundRect">
            <a:avLst/>
          </a:prstGeom>
          <a:solidFill>
            <a:srgbClr val="65C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3584448"/>
            <a:ext cx="5577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005A67"/>
                </a:solidFill>
                <a:latin typeface="Noto Sans"/>
              </a:defRPr>
            </a:pPr>
            <a:r>
              <a:t>Fundamentos de IA e Programação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3968496"/>
            <a:ext cx="5577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17343A"/>
                </a:solidFill>
                <a:latin typeface="Noto Sans"/>
              </a:defRPr>
            </a:pPr>
            <a:r>
              <a:t>Projeto integrador · outubro de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6016752"/>
            <a:ext cx="107899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50" b="1">
                <a:solidFill>
                  <a:srgbClr val="005A67"/>
                </a:solidFill>
                <a:latin typeface="Noto Sans"/>
              </a:defRPr>
            </a:pPr>
            <a:r>
              <a:t>Juliana Ballin Lima  ·  Fernanda de Oliveira da Costa  ·  Pedro Henrique Oliveira Dias</a:t>
            </a:r>
          </a:p>
        </p:txBody>
      </p:sp>
      <p:pic>
        <p:nvPicPr>
          <p:cNvPr id="13" name="Picture 12" descr="logo-u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1987" y="182880"/>
            <a:ext cx="1046561" cy="530352"/>
          </a:xfrm>
          <a:prstGeom prst="rect">
            <a:avLst/>
          </a:prstGeom>
        </p:spPr>
      </p:pic>
      <p:pic>
        <p:nvPicPr>
          <p:cNvPr id="14" name="Picture 13" descr="logo-sialab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142132"/>
            <a:ext cx="859536" cy="6118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5C3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01168" y="-182880"/>
            <a:ext cx="676656" cy="676656"/>
          </a:xfrm>
          <a:prstGeom prst="ellipse">
            <a:avLst/>
          </a:prstGeom>
          <a:solidFill>
            <a:srgbClr val="F6B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11338560" y="-164592"/>
            <a:ext cx="868680" cy="868680"/>
          </a:xfrm>
          <a:prstGeom prst="arc">
            <a:avLst/>
          </a:prstGeom>
          <a:solidFill>
            <a:srgbClr val="37A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8-Point Star 3"/>
          <p:cNvSpPr/>
          <p:nvPr/>
        </p:nvSpPr>
        <p:spPr>
          <a:xfrm>
            <a:off x="11411712" y="6053328"/>
            <a:ext cx="640080" cy="640080"/>
          </a:xfrm>
          <a:prstGeom prst="star8">
            <a:avLst/>
          </a:prstGeom>
          <a:solidFill>
            <a:srgbClr val="F06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oon 4"/>
          <p:cNvSpPr/>
          <p:nvPr/>
        </p:nvSpPr>
        <p:spPr>
          <a:xfrm>
            <a:off x="-219456" y="5989320"/>
            <a:ext cx="658368" cy="658368"/>
          </a:xfrm>
          <a:prstGeom prst="moon">
            <a:avLst/>
          </a:prstGeom>
          <a:solidFill>
            <a:srgbClr val="005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320040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005A67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7744"/>
            <a:ext cx="106070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005A67"/>
                </a:solidFill>
                <a:latin typeface="Noto Sans"/>
              </a:defRPr>
            </a:pPr>
            <a:r>
              <a:t>sumário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" y="1325880"/>
            <a:ext cx="3246120" cy="1508760"/>
          </a:xfrm>
          <a:prstGeom prst="round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490472"/>
            <a:ext cx="502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F06449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7904" y="1508760"/>
            <a:ext cx="23134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005A67"/>
                </a:solidFill>
                <a:latin typeface="Noto Sans"/>
              </a:defRPr>
            </a:pPr>
            <a:r>
              <a:t>o problema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7904" y="1993391"/>
            <a:ext cx="22860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17343A"/>
                </a:solidFill>
                <a:latin typeface="Noto Sans"/>
              </a:defRPr>
            </a:pPr>
            <a:r>
              <a:t>Atrasos no transporte fretado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9704" y="1325880"/>
            <a:ext cx="3246120" cy="1508760"/>
          </a:xfrm>
          <a:prstGeom prst="round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2584" y="1490472"/>
            <a:ext cx="502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F06449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9512" y="1508760"/>
            <a:ext cx="23134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005A67"/>
                </a:solidFill>
                <a:latin typeface="Noto Sans"/>
              </a:defRPr>
            </a:pPr>
            <a:r>
              <a:t>as perguntas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9512" y="1993391"/>
            <a:ext cx="22860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17343A"/>
                </a:solidFill>
                <a:latin typeface="Noto Sans"/>
              </a:defRPr>
            </a:pPr>
            <a:r>
              <a:t>Três hipóteses concorrentes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1325880"/>
            <a:ext cx="3246120" cy="1508760"/>
          </a:xfrm>
          <a:prstGeom prst="round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490472"/>
            <a:ext cx="502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F06449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1508760"/>
            <a:ext cx="23134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005A67"/>
                </a:solidFill>
                <a:latin typeface="Noto Sans"/>
              </a:defRPr>
            </a:pPr>
            <a:r>
              <a:t>o dataset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1993391"/>
            <a:ext cx="22860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17343A"/>
                </a:solidFill>
                <a:latin typeface="Noto Sans"/>
              </a:defRPr>
            </a:pPr>
            <a:r>
              <a:t>2.463 viagens e auditoria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" y="3337560"/>
            <a:ext cx="5102352" cy="1508760"/>
          </a:xfrm>
          <a:prstGeom prst="round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3502152"/>
            <a:ext cx="502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F06449"/>
                </a:solidFill>
                <a:latin typeface="Noto San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3520440"/>
            <a:ext cx="4169664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005A67"/>
                </a:solidFill>
                <a:latin typeface="Noto Sans"/>
              </a:defRPr>
            </a:pPr>
            <a:r>
              <a:t>o achado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7904" y="4005072"/>
            <a:ext cx="414223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17343A"/>
                </a:solidFill>
                <a:latin typeface="Noto Sans"/>
              </a:defRPr>
            </a:pPr>
            <a:r>
              <a:t>R03 e R05 desde 06/04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8776" y="3337560"/>
            <a:ext cx="5102352" cy="1508760"/>
          </a:xfrm>
          <a:prstGeom prst="round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1656" y="3502152"/>
            <a:ext cx="502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800" b="1">
                <a:solidFill>
                  <a:srgbClr val="F06449"/>
                </a:solidFill>
                <a:latin typeface="Noto San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58584" y="3520440"/>
            <a:ext cx="4169664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005A67"/>
                </a:solidFill>
                <a:latin typeface="Noto Sans"/>
              </a:defRPr>
            </a:pPr>
            <a:r>
              <a:t>a demonstração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58584" y="4005072"/>
            <a:ext cx="414223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17343A"/>
                </a:solidFill>
                <a:latin typeface="Noto Sans"/>
              </a:defRPr>
            </a:pPr>
            <a:r>
              <a:t>Notebook Colab executável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0848" y="4992624"/>
            <a:ext cx="1645920" cy="987552"/>
          </a:xfrm>
          <a:prstGeom prst="roundRect">
            <a:avLst/>
          </a:prstGeom>
          <a:solidFill>
            <a:srgbClr val="005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68358" y="5148986"/>
            <a:ext cx="1250899" cy="395020"/>
          </a:xfrm>
          <a:prstGeom prst="roundRect">
            <a:avLst/>
          </a:prstGeom>
          <a:solidFill>
            <a:srgbClr val="37A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334195" y="5799124"/>
            <a:ext cx="279806" cy="279806"/>
          </a:xfrm>
          <a:prstGeom prst="ellipse">
            <a:avLst/>
          </a:prstGeom>
          <a:solidFill>
            <a:srgbClr val="1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88828" y="5799124"/>
            <a:ext cx="279806" cy="279806"/>
          </a:xfrm>
          <a:prstGeom prst="ellipse">
            <a:avLst/>
          </a:prstGeom>
          <a:solidFill>
            <a:srgbClr val="1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268358" y="5626303"/>
            <a:ext cx="131673" cy="131673"/>
          </a:xfrm>
          <a:prstGeom prst="ellipse">
            <a:avLst/>
          </a:prstGeom>
          <a:solidFill>
            <a:srgbClr val="F6B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371124" y="5626303"/>
            <a:ext cx="131673" cy="131673"/>
          </a:xfrm>
          <a:prstGeom prst="ellipse">
            <a:avLst/>
          </a:prstGeom>
          <a:solidFill>
            <a:srgbClr val="F6B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64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01168" y="-182880"/>
            <a:ext cx="676656" cy="676656"/>
          </a:xfrm>
          <a:prstGeom prst="ellipse">
            <a:avLst/>
          </a:prstGeom>
          <a:solidFill>
            <a:srgbClr val="F6B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11338560" y="-164592"/>
            <a:ext cx="868680" cy="868680"/>
          </a:xfrm>
          <a:prstGeom prst="arc">
            <a:avLst/>
          </a:prstGeom>
          <a:solidFill>
            <a:srgbClr val="37A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8-Point Star 3"/>
          <p:cNvSpPr/>
          <p:nvPr/>
        </p:nvSpPr>
        <p:spPr>
          <a:xfrm>
            <a:off x="11411712" y="6053328"/>
            <a:ext cx="640080" cy="640080"/>
          </a:xfrm>
          <a:prstGeom prst="star8">
            <a:avLst/>
          </a:prstGeom>
          <a:solidFill>
            <a:srgbClr val="F06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oon 4"/>
          <p:cNvSpPr/>
          <p:nvPr/>
        </p:nvSpPr>
        <p:spPr>
          <a:xfrm>
            <a:off x="-219456" y="5989320"/>
            <a:ext cx="658368" cy="658368"/>
          </a:xfrm>
          <a:prstGeom prst="moon">
            <a:avLst/>
          </a:prstGeom>
          <a:solidFill>
            <a:srgbClr val="005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320040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FFF8E8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7744"/>
            <a:ext cx="106070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FFF8E8"/>
                </a:solidFill>
                <a:latin typeface="Noto Sans"/>
              </a:defRPr>
            </a:pPr>
            <a:r>
              <a:t>o problema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115568"/>
            <a:ext cx="6720840" cy="3246120"/>
          </a:xfrm>
          <a:prstGeom prst="round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444752"/>
            <a:ext cx="6080760" cy="10241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400" b="1">
                <a:solidFill>
                  <a:srgbClr val="005A67"/>
                </a:solidFill>
                <a:latin typeface="Noto Sans"/>
              </a:defRPr>
            </a:pPr>
            <a:r>
              <a:t>Colaboradores chegam atrasados à linha porque os ônibus fretados não cumprem o horário planejado.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770632"/>
            <a:ext cx="59436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17343A"/>
                </a:solidFill>
                <a:latin typeface="Noto Sans"/>
              </a:defRPr>
            </a:pPr>
            <a:r>
              <a:t>O RH precisa saber se a piora é geral, onde ela se concentra e qual explicação os dados realmente sustentam.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54112" y="1188720"/>
            <a:ext cx="1600200" cy="1143000"/>
          </a:xfrm>
          <a:prstGeom prst="round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82128" y="1307592"/>
            <a:ext cx="1344168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005A67"/>
                </a:solidFill>
                <a:latin typeface="Noto Sans"/>
              </a:defRPr>
            </a:pPr>
            <a: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8" y="1819656"/>
            <a:ext cx="134416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17343A"/>
                </a:solidFill>
                <a:latin typeface="Noto Sans"/>
              </a:defRPr>
            </a:pPr>
            <a:r>
              <a:t>rotas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0616" y="1188720"/>
            <a:ext cx="1600200" cy="1143000"/>
          </a:xfrm>
          <a:prstGeom prst="round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28632" y="1307592"/>
            <a:ext cx="1344168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F06449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8632" y="1819656"/>
            <a:ext cx="134416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17343A"/>
                </a:solidFill>
                <a:latin typeface="Noto Sans"/>
              </a:defRPr>
            </a:pPr>
            <a:r>
              <a:t>turnos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54112" y="2578608"/>
            <a:ext cx="3346704" cy="1143000"/>
          </a:xfrm>
          <a:prstGeom prst="round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82128" y="2697479"/>
            <a:ext cx="309067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005A67"/>
                </a:solidFill>
                <a:latin typeface="Noto Sans"/>
              </a:defRPr>
            </a:pPr>
            <a:r>
              <a:t>≤ 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2128" y="3209544"/>
            <a:ext cx="309067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17343A"/>
                </a:solidFill>
                <a:latin typeface="Noto Sans"/>
              </a:defRPr>
            </a:pPr>
            <a:r>
              <a:t>limite de pontualidade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54112" y="3968496"/>
            <a:ext cx="3346704" cy="1143000"/>
          </a:xfrm>
          <a:prstGeom prst="round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82128" y="4087368"/>
            <a:ext cx="309067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F06449"/>
                </a:solidFill>
                <a:latin typeface="Noto Sans"/>
              </a:defRPr>
            </a:pPr>
            <a:r>
              <a:t>15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2128" y="4599431"/>
            <a:ext cx="309067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17343A"/>
                </a:solidFill>
                <a:latin typeface="Noto Sans"/>
              </a:defRPr>
            </a:pPr>
            <a:r>
              <a:t>margem até o início do turno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4882896"/>
            <a:ext cx="1645920" cy="987552"/>
          </a:xfrm>
          <a:prstGeom prst="roundRect">
            <a:avLst/>
          </a:prstGeom>
          <a:solidFill>
            <a:srgbClr val="005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57630" y="5039258"/>
            <a:ext cx="1250899" cy="395020"/>
          </a:xfrm>
          <a:prstGeom prst="roundRect">
            <a:avLst/>
          </a:prstGeom>
          <a:solidFill>
            <a:srgbClr val="37A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23467" y="5689396"/>
            <a:ext cx="279806" cy="279806"/>
          </a:xfrm>
          <a:prstGeom prst="ellipse">
            <a:avLst/>
          </a:prstGeom>
          <a:solidFill>
            <a:srgbClr val="1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178100" y="5689396"/>
            <a:ext cx="279806" cy="279806"/>
          </a:xfrm>
          <a:prstGeom prst="ellipse">
            <a:avLst/>
          </a:prstGeom>
          <a:solidFill>
            <a:srgbClr val="1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57630" y="5516575"/>
            <a:ext cx="131673" cy="131673"/>
          </a:xfrm>
          <a:prstGeom prst="ellipse">
            <a:avLst/>
          </a:prstGeom>
          <a:solidFill>
            <a:srgbClr val="F6B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260396" y="5516575"/>
            <a:ext cx="131673" cy="131673"/>
          </a:xfrm>
          <a:prstGeom prst="ellipse">
            <a:avLst/>
          </a:prstGeom>
          <a:solidFill>
            <a:srgbClr val="F6B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71800" y="5175504"/>
            <a:ext cx="42976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FFF8E8"/>
                </a:solidFill>
                <a:latin typeface="Noto Sans"/>
              </a:defRPr>
            </a:pPr>
            <a:r>
              <a:t>Pontualidade geral tratada: 81.9%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28431" y="5806440"/>
            <a:ext cx="29260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8E8"/>
                </a:solidFill>
                <a:latin typeface="Noto Sans"/>
              </a:defRPr>
            </a:pPr>
            <a:r>
              <a:t>fev · mar · abr · mai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01168" y="-182880"/>
            <a:ext cx="676656" cy="676656"/>
          </a:xfrm>
          <a:prstGeom prst="ellipse">
            <a:avLst/>
          </a:prstGeom>
          <a:solidFill>
            <a:srgbClr val="F6B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11338560" y="-164592"/>
            <a:ext cx="868680" cy="868680"/>
          </a:xfrm>
          <a:prstGeom prst="arc">
            <a:avLst/>
          </a:prstGeom>
          <a:solidFill>
            <a:srgbClr val="37A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8-Point Star 3"/>
          <p:cNvSpPr/>
          <p:nvPr/>
        </p:nvSpPr>
        <p:spPr>
          <a:xfrm>
            <a:off x="11411712" y="6053328"/>
            <a:ext cx="640080" cy="640080"/>
          </a:xfrm>
          <a:prstGeom prst="star8">
            <a:avLst/>
          </a:prstGeom>
          <a:solidFill>
            <a:srgbClr val="F06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oon 4"/>
          <p:cNvSpPr/>
          <p:nvPr/>
        </p:nvSpPr>
        <p:spPr>
          <a:xfrm>
            <a:off x="-219456" y="5989320"/>
            <a:ext cx="658368" cy="658368"/>
          </a:xfrm>
          <a:prstGeom prst="moon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320040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17343A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7744"/>
            <a:ext cx="106070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17343A"/>
                </a:solidFill>
                <a:latin typeface="Noto Sans"/>
              </a:defRPr>
            </a:pPr>
            <a:r>
              <a:t>perguntas e hipóteses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024128"/>
            <a:ext cx="10744200" cy="1078992"/>
          </a:xfrm>
          <a:prstGeom prst="roundRect">
            <a:avLst/>
          </a:prstGeom>
          <a:solidFill>
            <a:srgbClr val="005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307592"/>
            <a:ext cx="100584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100" b="1">
                <a:solidFill>
                  <a:srgbClr val="FFF8E8"/>
                </a:solidFill>
                <a:latin typeface="Noto Sans"/>
              </a:defRPr>
            </a:pPr>
            <a:r>
              <a:t>A queda é geral por causa da chuva ou está concentrada em rotas, turnos e períodos específicos?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514600"/>
            <a:ext cx="3364992" cy="2606040"/>
          </a:xfrm>
          <a:prstGeom prst="roundRect">
            <a:avLst/>
          </a:prstGeom>
          <a:solidFill>
            <a:srgbClr val="37A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7" y="2734056"/>
            <a:ext cx="658368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005A67"/>
                </a:solidFill>
                <a:latin typeface="Noto Sans"/>
              </a:defRPr>
            </a:pPr>
            <a:r>
              <a:t>H1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82495" y="2788920"/>
            <a:ext cx="20574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005A67"/>
                </a:solidFill>
                <a:latin typeface="Noto Sans"/>
              </a:defRPr>
            </a:pPr>
            <a:r>
              <a:t>chuva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7" y="3483864"/>
            <a:ext cx="278892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0">
                <a:solidFill>
                  <a:srgbClr val="17343A"/>
                </a:solidFill>
                <a:latin typeface="Noto Sans"/>
              </a:defRPr>
            </a:pPr>
            <a:r>
              <a:t>A chuva forte explica a piora de pontualidade.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4599432"/>
            <a:ext cx="2560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005A67"/>
                </a:solidFill>
                <a:latin typeface="Noto Sans"/>
              </a:defRPr>
            </a:pPr>
            <a:r>
              <a:t>testar · comparar · limitar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53712" y="2514600"/>
            <a:ext cx="3364992" cy="2606040"/>
          </a:xfrm>
          <a:prstGeom prst="roundRect">
            <a:avLst/>
          </a:prstGeom>
          <a:solidFill>
            <a:srgbClr val="F06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82312" y="2734056"/>
            <a:ext cx="658368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005A67"/>
                </a:solidFill>
                <a:latin typeface="Noto Sans"/>
              </a:defRPr>
            </a:pPr>
            <a:r>
              <a:t>H2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788920"/>
            <a:ext cx="20574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005A67"/>
                </a:solidFill>
                <a:latin typeface="Noto Sans"/>
              </a:defRPr>
            </a:pPr>
            <a:r>
              <a:t>corredor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3483864"/>
            <a:ext cx="278892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0">
                <a:solidFill>
                  <a:srgbClr val="17343A"/>
                </a:solidFill>
                <a:latin typeface="Noto Sans"/>
              </a:defRPr>
            </a:pPr>
            <a:r>
              <a:t>R03 e R05 enfrentam uma restrição compartilhada.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4599432"/>
            <a:ext cx="2560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005A67"/>
                </a:solidFill>
                <a:latin typeface="Noto Sans"/>
              </a:defRPr>
            </a:pPr>
            <a:r>
              <a:t>testar · comparar · limitar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57616" y="2514600"/>
            <a:ext cx="3364992" cy="2606040"/>
          </a:xfrm>
          <a:prstGeom prst="roundRect">
            <a:avLst/>
          </a:prstGeom>
          <a:solidFill>
            <a:srgbClr val="F6B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86216" y="2734056"/>
            <a:ext cx="658368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005A67"/>
                </a:solidFill>
                <a:latin typeface="Noto Sans"/>
              </a:defRPr>
            </a:pPr>
            <a:r>
              <a:t>H3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0304" y="2788920"/>
            <a:ext cx="20574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005A67"/>
                </a:solidFill>
                <a:latin typeface="Noto Sans"/>
              </a:defRPr>
            </a:pPr>
            <a:r>
              <a:t>ocorrências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1936" y="3483864"/>
            <a:ext cx="278892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0">
                <a:solidFill>
                  <a:srgbClr val="17343A"/>
                </a:solidFill>
                <a:latin typeface="Noto Sans"/>
              </a:defRPr>
            </a:pPr>
            <a:r>
              <a:t>Pane, trânsito e pneus explicam a mudança.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41664" y="4599432"/>
            <a:ext cx="2560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005A67"/>
                </a:solidFill>
                <a:latin typeface="Noto Sans"/>
              </a:defRPr>
            </a:pPr>
            <a:r>
              <a:t>testar · comparar · limitar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806440"/>
            <a:ext cx="89611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005A67"/>
                </a:solidFill>
                <a:latin typeface="Noto Sans"/>
              </a:defRPr>
            </a:pPr>
            <a:r>
              <a:t>Não buscamos uma resposta escondida. Construímos a explicação mais defensável.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A6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01168" y="-182880"/>
            <a:ext cx="676656" cy="676656"/>
          </a:xfrm>
          <a:prstGeom prst="ellipse">
            <a:avLst/>
          </a:prstGeom>
          <a:solidFill>
            <a:srgbClr val="F6B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11338560" y="-164592"/>
            <a:ext cx="868680" cy="868680"/>
          </a:xfrm>
          <a:prstGeom prst="arc">
            <a:avLst/>
          </a:prstGeom>
          <a:solidFill>
            <a:srgbClr val="37A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8-Point Star 3"/>
          <p:cNvSpPr/>
          <p:nvPr/>
        </p:nvSpPr>
        <p:spPr>
          <a:xfrm>
            <a:off x="11411712" y="6053328"/>
            <a:ext cx="640080" cy="640080"/>
          </a:xfrm>
          <a:prstGeom prst="star8">
            <a:avLst/>
          </a:prstGeom>
          <a:solidFill>
            <a:srgbClr val="F06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oon 4"/>
          <p:cNvSpPr/>
          <p:nvPr/>
        </p:nvSpPr>
        <p:spPr>
          <a:xfrm>
            <a:off x="-219456" y="5989320"/>
            <a:ext cx="658368" cy="658368"/>
          </a:xfrm>
          <a:prstGeom prst="moon">
            <a:avLst/>
          </a:prstGeom>
          <a:solidFill>
            <a:srgbClr val="005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320040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FFF8E8"/>
                </a:solidFill>
                <a:latin typeface="Noto San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7744"/>
            <a:ext cx="106070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FFF8E8"/>
                </a:solidFill>
                <a:latin typeface="Noto Sans"/>
              </a:defRPr>
            </a:pPr>
            <a:r>
              <a:t>dataset e qualidade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124712"/>
            <a:ext cx="2048256" cy="1143000"/>
          </a:xfrm>
          <a:prstGeom prst="round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243584"/>
            <a:ext cx="1792224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F06449"/>
                </a:solidFill>
                <a:latin typeface="Noto Sans"/>
              </a:defRPr>
            </a:pPr>
            <a:r>
              <a:t>2.463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55648"/>
            <a:ext cx="17922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17343A"/>
                </a:solidFill>
                <a:latin typeface="Noto Sans"/>
              </a:defRPr>
            </a:pPr>
            <a:r>
              <a:t>linhas recebidas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2" y="1124712"/>
            <a:ext cx="2048256" cy="1143000"/>
          </a:xfrm>
          <a:prstGeom prst="round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1243584"/>
            <a:ext cx="1792224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005A67"/>
                </a:solidFill>
                <a:latin typeface="Noto Sans"/>
              </a:defRPr>
            </a:pPr>
            <a: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1755648"/>
            <a:ext cx="17922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17343A"/>
                </a:solidFill>
                <a:latin typeface="Noto Sans"/>
              </a:defRPr>
            </a:pPr>
            <a:r>
              <a:t>variáveis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1124712"/>
            <a:ext cx="2048256" cy="1143000"/>
          </a:xfrm>
          <a:prstGeom prst="round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48655" y="1243584"/>
            <a:ext cx="1792224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37A9E8"/>
                </a:solidFill>
                <a:latin typeface="Noto Sans"/>
              </a:defRPr>
            </a:pPr>
            <a:r>
              <a:t>102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8655" y="1755648"/>
            <a:ext cx="179222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17343A"/>
                </a:solidFill>
                <a:latin typeface="Noto Sans"/>
              </a:defRPr>
            </a:pPr>
            <a:r>
              <a:t>dias de operação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33488" y="1124712"/>
            <a:ext cx="2880360" cy="1143000"/>
          </a:xfrm>
          <a:prstGeom prst="round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61504" y="1243584"/>
            <a:ext cx="2624328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F06449"/>
                </a:solidFill>
                <a:latin typeface="Noto Sans"/>
              </a:defRPr>
            </a:pPr>
            <a:r>
              <a:t>2.448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61504" y="1755648"/>
            <a:ext cx="262432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17343A"/>
                </a:solidFill>
                <a:latin typeface="Noto Sans"/>
              </a:defRPr>
            </a:pPr>
            <a:r>
              <a:t>viagens após deduplicar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" y="2633472"/>
            <a:ext cx="5129784" cy="3246120"/>
          </a:xfrm>
          <a:prstGeom prst="round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2852928"/>
            <a:ext cx="44805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900" b="1">
                <a:solidFill>
                  <a:srgbClr val="005A67"/>
                </a:solidFill>
                <a:latin typeface="Noto Sans"/>
              </a:defRPr>
            </a:pPr>
            <a:r>
              <a:t>o que a base descreve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3410712"/>
            <a:ext cx="4498848" cy="2011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17343A"/>
                </a:solidFill>
                <a:latin typeface="Noto Sans"/>
              </a:defRPr>
            </a:pPr>
            <a:r>
              <a:t>•  data, turno, rota, zona e empresa</a:t>
            </a:r>
          </a:p>
          <a:p>
            <a:pPr>
              <a:spcAft>
                <a:spcPts val="1100"/>
              </a:spcAft>
              <a:defRPr sz="1500">
                <a:solidFill>
                  <a:srgbClr val="17343A"/>
                </a:solidFill>
                <a:latin typeface="Noto Sans"/>
              </a:defRPr>
            </a:pPr>
            <a:r>
              <a:t>•  horários previsto e realizado</a:t>
            </a:r>
          </a:p>
          <a:p>
            <a:pPr>
              <a:spcAft>
                <a:spcPts val="1100"/>
              </a:spcAft>
              <a:defRPr sz="1500">
                <a:solidFill>
                  <a:srgbClr val="17343A"/>
                </a:solidFill>
                <a:latin typeface="Noto Sans"/>
              </a:defRPr>
            </a:pPr>
            <a:r>
              <a:t>•  atraso, passageiros e chuva</a:t>
            </a:r>
          </a:p>
          <a:p>
            <a:pPr>
              <a:spcAft>
                <a:spcPts val="1100"/>
              </a:spcAft>
              <a:defRPr sz="1500">
                <a:solidFill>
                  <a:srgbClr val="17343A"/>
                </a:solidFill>
                <a:latin typeface="Noto Sans"/>
              </a:defRPr>
            </a:pPr>
            <a:r>
              <a:t>•  ocorrência registrada pelo motorista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08192" y="2633472"/>
            <a:ext cx="5303520" cy="3246120"/>
          </a:xfrm>
          <a:prstGeom prst="roundRect">
            <a:avLst/>
          </a:prstGeom>
          <a:solidFill>
            <a:srgbClr val="65C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91656" y="2852928"/>
            <a:ext cx="46634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900" b="1">
                <a:solidFill>
                  <a:srgbClr val="005A67"/>
                </a:solidFill>
                <a:latin typeface="Noto Sans"/>
              </a:defRPr>
            </a:pPr>
            <a:r>
              <a:t>o que precisou de cuidado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3456432"/>
            <a:ext cx="822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600" b="1">
                <a:solidFill>
                  <a:srgbClr val="F06449"/>
                </a:solidFill>
                <a:latin typeface="Noto Sans"/>
              </a:defRPr>
            </a:pPr>
            <a:r>
              <a:t>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3456432"/>
            <a:ext cx="3474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17343A"/>
                </a:solidFill>
                <a:latin typeface="Noto Sans"/>
              </a:defRPr>
            </a:pPr>
            <a:r>
              <a:t>duplicatas exatas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9944" y="3977639"/>
            <a:ext cx="822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600" b="1">
                <a:solidFill>
                  <a:srgbClr val="F06449"/>
                </a:solidFill>
                <a:latin typeface="Noto Sans"/>
              </a:defRPr>
            </a:pPr>
            <a:r>
              <a:t>145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977639"/>
            <a:ext cx="3474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17343A"/>
                </a:solidFill>
                <a:latin typeface="Noto Sans"/>
              </a:defRPr>
            </a:pPr>
            <a:r>
              <a:t>chuvas ausentes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9944" y="4498848"/>
            <a:ext cx="822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600" b="1">
                <a:solidFill>
                  <a:srgbClr val="F06449"/>
                </a:solidFill>
                <a:latin typeface="Noto Sans"/>
              </a:defRPr>
            </a:pPr>
            <a:r>
              <a:t>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4498848"/>
            <a:ext cx="3474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17343A"/>
                </a:solidFill>
                <a:latin typeface="Noto Sans"/>
              </a:defRPr>
            </a:pPr>
            <a:r>
              <a:t>atrasos divergentes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9944" y="5020056"/>
            <a:ext cx="822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600" b="1">
                <a:solidFill>
                  <a:srgbClr val="F06449"/>
                </a:solidFill>
                <a:latin typeface="Noto Sans"/>
              </a:defRPr>
            </a:pPr>
            <a:r>
              <a:t>6 + 5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5020056"/>
            <a:ext cx="3474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17343A"/>
                </a:solidFill>
                <a:latin typeface="Noto Sans"/>
              </a:defRPr>
            </a:pPr>
            <a:r>
              <a:t>atrasos e lotações inválidos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5504688"/>
            <a:ext cx="4343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50" b="1">
                <a:solidFill>
                  <a:srgbClr val="005A67"/>
                </a:solidFill>
                <a:latin typeface="Noto Sans"/>
              </a:defRPr>
            </a:pPr>
            <a:r>
              <a:t>Base bruta preservada · regras reproduzíveis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01168" y="-182880"/>
            <a:ext cx="676656" cy="676656"/>
          </a:xfrm>
          <a:prstGeom prst="ellipse">
            <a:avLst/>
          </a:prstGeom>
          <a:solidFill>
            <a:srgbClr val="F6B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11338560" y="-164592"/>
            <a:ext cx="868680" cy="868680"/>
          </a:xfrm>
          <a:prstGeom prst="arc">
            <a:avLst/>
          </a:prstGeom>
          <a:solidFill>
            <a:srgbClr val="37A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8-Point Star 3"/>
          <p:cNvSpPr/>
          <p:nvPr/>
        </p:nvSpPr>
        <p:spPr>
          <a:xfrm>
            <a:off x="11411712" y="6053328"/>
            <a:ext cx="640080" cy="640080"/>
          </a:xfrm>
          <a:prstGeom prst="star8">
            <a:avLst/>
          </a:prstGeom>
          <a:solidFill>
            <a:srgbClr val="F06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oon 4"/>
          <p:cNvSpPr/>
          <p:nvPr/>
        </p:nvSpPr>
        <p:spPr>
          <a:xfrm>
            <a:off x="-219456" y="5989320"/>
            <a:ext cx="658368" cy="658368"/>
          </a:xfrm>
          <a:prstGeom prst="moon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320040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17343A"/>
                </a:solidFill>
                <a:latin typeface="Noto Sans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7744"/>
            <a:ext cx="106070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17343A"/>
                </a:solidFill>
                <a:latin typeface="Noto Sans"/>
              </a:defRPr>
            </a:pPr>
            <a:r>
              <a:t>resultado principal</a:t>
            </a:r>
          </a:p>
        </p:txBody>
      </p:sp>
      <p:pic>
        <p:nvPicPr>
          <p:cNvPr id="8" name="Picture 7" descr="01_serie_ro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35546"/>
            <a:ext cx="8092440" cy="443496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796528" y="1216152"/>
            <a:ext cx="2788920" cy="1261872"/>
          </a:xfrm>
          <a:prstGeom prst="roundRect">
            <a:avLst/>
          </a:prstGeom>
          <a:solidFill>
            <a:srgbClr val="F06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97696" y="1426464"/>
            <a:ext cx="235915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800" b="1">
                <a:solidFill>
                  <a:srgbClr val="FFF8E8"/>
                </a:solidFill>
                <a:latin typeface="Noto Sans"/>
              </a:defRPr>
            </a:pPr>
            <a:r>
              <a:t>06/04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7696" y="1911095"/>
            <a:ext cx="23591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0">
                <a:solidFill>
                  <a:srgbClr val="FFF8E8"/>
                </a:solidFill>
                <a:latin typeface="Noto Sans"/>
              </a:defRPr>
            </a:pPr>
            <a:r>
              <a:t>início da ruptura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96528" y="2761488"/>
            <a:ext cx="2788920" cy="1261872"/>
          </a:xfrm>
          <a:prstGeom prst="roundRect">
            <a:avLst/>
          </a:prstGeom>
          <a:solidFill>
            <a:srgbClr val="65C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97696" y="2962656"/>
            <a:ext cx="235915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800" b="1">
                <a:solidFill>
                  <a:srgbClr val="005A67"/>
                </a:solidFill>
                <a:latin typeface="Noto Sans"/>
              </a:defRPr>
            </a:pPr>
            <a:r>
              <a:t>19%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24544" y="3465576"/>
            <a:ext cx="248716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50" b="0">
                <a:solidFill>
                  <a:srgbClr val="005A67"/>
                </a:solidFill>
                <a:latin typeface="Noto Sans"/>
              </a:defRPr>
            </a:pPr>
            <a:r>
              <a:t>pontualidade R03/R05 · dia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96528" y="4315968"/>
            <a:ext cx="2788920" cy="1261872"/>
          </a:xfrm>
          <a:prstGeom prst="roundRect">
            <a:avLst/>
          </a:prstGeom>
          <a:solidFill>
            <a:srgbClr val="F6B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7696" y="4526280"/>
            <a:ext cx="235915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800" b="1">
                <a:solidFill>
                  <a:srgbClr val="005A67"/>
                </a:solidFill>
                <a:latin typeface="Noto Sans"/>
              </a:defRPr>
            </a:pPr>
            <a:r>
              <a:t>12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5020056"/>
            <a:ext cx="23591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0">
                <a:solidFill>
                  <a:srgbClr val="005A67"/>
                </a:solidFill>
                <a:latin typeface="Noto Sans"/>
              </a:defRPr>
            </a:pPr>
            <a:r>
              <a:t>mediana de atraso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BD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01168" y="-182880"/>
            <a:ext cx="676656" cy="676656"/>
          </a:xfrm>
          <a:prstGeom prst="ellipse">
            <a:avLst/>
          </a:prstGeom>
          <a:solidFill>
            <a:srgbClr val="F6B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11338560" y="-164592"/>
            <a:ext cx="868680" cy="868680"/>
          </a:xfrm>
          <a:prstGeom prst="arc">
            <a:avLst/>
          </a:prstGeom>
          <a:solidFill>
            <a:srgbClr val="37A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8-Point Star 3"/>
          <p:cNvSpPr/>
          <p:nvPr/>
        </p:nvSpPr>
        <p:spPr>
          <a:xfrm>
            <a:off x="11411712" y="6053328"/>
            <a:ext cx="640080" cy="640080"/>
          </a:xfrm>
          <a:prstGeom prst="star8">
            <a:avLst/>
          </a:prstGeom>
          <a:solidFill>
            <a:srgbClr val="F06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oon 4"/>
          <p:cNvSpPr/>
          <p:nvPr/>
        </p:nvSpPr>
        <p:spPr>
          <a:xfrm>
            <a:off x="-219456" y="5989320"/>
            <a:ext cx="658368" cy="658368"/>
          </a:xfrm>
          <a:prstGeom prst="moon">
            <a:avLst/>
          </a:prstGeom>
          <a:solidFill>
            <a:srgbClr val="005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320040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005A67"/>
                </a:solidFill>
                <a:latin typeface="Noto Sans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7744"/>
            <a:ext cx="106070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005A67"/>
                </a:solidFill>
                <a:latin typeface="Noto Sans"/>
              </a:defRPr>
            </a:pPr>
            <a:r>
              <a:t>evidências e conclusão</a:t>
            </a:r>
          </a:p>
        </p:txBody>
      </p:sp>
      <p:pic>
        <p:nvPicPr>
          <p:cNvPr id="8" name="Picture 7" descr="02_heatmap_rota_tur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10954"/>
            <a:ext cx="6016752" cy="420185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647688" y="1124712"/>
            <a:ext cx="4983480" cy="1078992"/>
          </a:xfrm>
          <a:prstGeom prst="roundRect">
            <a:avLst/>
          </a:prstGeom>
          <a:solidFill>
            <a:srgbClr val="37A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271016"/>
            <a:ext cx="1508760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005A67"/>
                </a:solidFill>
                <a:latin typeface="Noto Sans"/>
              </a:defRPr>
            </a:pPr>
            <a:r>
              <a:t>chuva agrava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8472" y="1261872"/>
            <a:ext cx="29718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50" b="0">
                <a:solidFill>
                  <a:srgbClr val="17343A"/>
                </a:solidFill>
                <a:latin typeface="Noto Sans"/>
              </a:defRPr>
            </a:pPr>
            <a:r>
              <a:t>Correlação moderada, mas o efeito aparece em toda a operação.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47688" y="2478024"/>
            <a:ext cx="4983480" cy="1078992"/>
          </a:xfrm>
          <a:prstGeom prst="roundRect">
            <a:avLst/>
          </a:prstGeom>
          <a:solidFill>
            <a:srgbClr val="F06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2624328"/>
            <a:ext cx="1508760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005A67"/>
                </a:solidFill>
                <a:latin typeface="Noto Sans"/>
              </a:defRPr>
            </a:pPr>
            <a:r>
              <a:t>obra localiza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2" y="2615184"/>
            <a:ext cx="29718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50" b="0">
                <a:solidFill>
                  <a:srgbClr val="17343A"/>
                </a:solidFill>
                <a:latin typeface="Noto Sans"/>
              </a:defRPr>
            </a:pPr>
            <a:r>
              <a:t>“Obra na via” surge em 07/04 somente em R03 e R05.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47688" y="3831335"/>
            <a:ext cx="4983480" cy="1078992"/>
          </a:xfrm>
          <a:prstGeom prst="roundRect">
            <a:avLst/>
          </a:prstGeom>
          <a:solidFill>
            <a:srgbClr val="65C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3977639"/>
            <a:ext cx="1508760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005A67"/>
                </a:solidFill>
                <a:latin typeface="Noto Sans"/>
              </a:defRPr>
            </a:pPr>
            <a:r>
              <a:t>noite preserva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3968496"/>
            <a:ext cx="29718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50" b="0">
                <a:solidFill>
                  <a:srgbClr val="17343A"/>
                </a:solidFill>
                <a:latin typeface="Noto Sans"/>
              </a:defRPr>
            </a:pPr>
            <a:r>
              <a:t>As duas rotas mantêm 96% de pontualidade no turno noturno.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7688" y="5230368"/>
            <a:ext cx="4983480" cy="804672"/>
          </a:xfrm>
          <a:prstGeom prst="roundRect">
            <a:avLst/>
          </a:prstGeom>
          <a:solidFill>
            <a:srgbClr val="005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94576" y="5440680"/>
            <a:ext cx="449884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FFF8E8"/>
                </a:solidFill>
                <a:latin typeface="Noto Sans"/>
              </a:defRPr>
            </a:pPr>
            <a:r>
              <a:t>Hipótese mais plausível: restrição diurna no corredor compartilhado.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01168" y="-182880"/>
            <a:ext cx="676656" cy="676656"/>
          </a:xfrm>
          <a:prstGeom prst="ellipse">
            <a:avLst/>
          </a:prstGeom>
          <a:solidFill>
            <a:srgbClr val="F6B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11338560" y="-164592"/>
            <a:ext cx="868680" cy="868680"/>
          </a:xfrm>
          <a:prstGeom prst="arc">
            <a:avLst/>
          </a:prstGeom>
          <a:solidFill>
            <a:srgbClr val="37A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8-Point Star 3"/>
          <p:cNvSpPr/>
          <p:nvPr/>
        </p:nvSpPr>
        <p:spPr>
          <a:xfrm>
            <a:off x="11411712" y="6053328"/>
            <a:ext cx="640080" cy="640080"/>
          </a:xfrm>
          <a:prstGeom prst="star8">
            <a:avLst/>
          </a:prstGeom>
          <a:solidFill>
            <a:srgbClr val="F06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oon 4"/>
          <p:cNvSpPr/>
          <p:nvPr/>
        </p:nvSpPr>
        <p:spPr>
          <a:xfrm>
            <a:off x="-219456" y="5989320"/>
            <a:ext cx="658368" cy="658368"/>
          </a:xfrm>
          <a:prstGeom prst="moon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320040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17343A"/>
                </a:solidFill>
                <a:latin typeface="Noto Sans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7744"/>
            <a:ext cx="106070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17343A"/>
                </a:solidFill>
                <a:latin typeface="Noto Sans"/>
              </a:defRPr>
            </a:pPr>
            <a:r>
              <a:t>demonstração do notebook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33271"/>
            <a:ext cx="6876288" cy="5376672"/>
          </a:xfrm>
          <a:prstGeom prst="roundRect">
            <a:avLst/>
          </a:prstGeom>
          <a:solidFill>
            <a:srgbClr val="F2F5F5"/>
          </a:solidFill>
          <a:ln w="15240">
            <a:solidFill>
              <a:srgbClr val="005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9536" y="1298448"/>
            <a:ext cx="6437376" cy="457200"/>
          </a:xfrm>
          <a:prstGeom prst="roundRect">
            <a:avLst/>
          </a:prstGeom>
          <a:solidFill>
            <a:srgbClr val="005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" y="1417320"/>
            <a:ext cx="3840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FFF8E8"/>
                </a:solidFill>
                <a:latin typeface="Noto Sans"/>
              </a:defRPr>
            </a:pPr>
            <a:r>
              <a:t>Rota em Dia · Google Colab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011680"/>
            <a:ext cx="6108192" cy="713232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D0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2148840"/>
            <a:ext cx="43891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900" b="1">
                <a:solidFill>
                  <a:srgbClr val="F06449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2148840"/>
            <a:ext cx="157276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005A67"/>
                </a:solidFill>
                <a:latin typeface="Noto Sans"/>
              </a:defRPr>
            </a:pPr>
            <a:r>
              <a:t>carregar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157984"/>
            <a:ext cx="331012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17343A"/>
                </a:solidFill>
                <a:latin typeface="Noto Sans"/>
              </a:defRPr>
            </a:pPr>
            <a:r>
              <a:t>CSV + diagnóstico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2953512"/>
            <a:ext cx="6108192" cy="713232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D0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7864" y="3090672"/>
            <a:ext cx="43891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900" b="1">
                <a:solidFill>
                  <a:srgbClr val="F06449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0512" y="3090672"/>
            <a:ext cx="157276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005A67"/>
                </a:solidFill>
                <a:latin typeface="Noto Sans"/>
              </a:defRPr>
            </a:pPr>
            <a:r>
              <a:t>investigar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099816"/>
            <a:ext cx="331012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17343A"/>
                </a:solidFill>
                <a:latin typeface="Noto Sans"/>
              </a:defRPr>
            </a:pPr>
            <a:r>
              <a:t>estatística + hipóteses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3895344"/>
            <a:ext cx="6108192" cy="713232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D0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" y="4032504"/>
            <a:ext cx="43891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900" b="1">
                <a:solidFill>
                  <a:srgbClr val="F06449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10512" y="4032504"/>
            <a:ext cx="157276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005A67"/>
                </a:solidFill>
                <a:latin typeface="Noto Sans"/>
              </a:defRPr>
            </a:pPr>
            <a:r>
              <a:t>limpar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041648"/>
            <a:ext cx="331012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17343A"/>
                </a:solidFill>
                <a:latin typeface="Noto Sans"/>
              </a:defRPr>
            </a:pPr>
            <a:r>
              <a:t>pipeline + validação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4837176"/>
            <a:ext cx="6108192" cy="713232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D0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97864" y="4974336"/>
            <a:ext cx="43891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900" b="1">
                <a:solidFill>
                  <a:srgbClr val="F06449"/>
                </a:solidFill>
                <a:latin typeface="Noto San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10512" y="4974336"/>
            <a:ext cx="157276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005A67"/>
                </a:solidFill>
                <a:latin typeface="Noto Sans"/>
              </a:defRPr>
            </a:pPr>
            <a:r>
              <a:t>explicar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983480"/>
            <a:ext cx="331012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17343A"/>
                </a:solidFill>
                <a:latin typeface="Noto Sans"/>
              </a:defRPr>
            </a:pPr>
            <a:r>
              <a:t>5 gráficos + conclusão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1097280"/>
            <a:ext cx="3767328" cy="1901952"/>
          </a:xfrm>
          <a:prstGeom prst="roundRect">
            <a:avLst/>
          </a:prstGeom>
          <a:solidFill>
            <a:srgbClr val="65C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47304" y="1426464"/>
            <a:ext cx="3127248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400" b="1">
                <a:solidFill>
                  <a:srgbClr val="005A67"/>
                </a:solidFill>
                <a:latin typeface="Noto Sans"/>
              </a:defRPr>
            </a:pPr>
            <a:r>
              <a:t>executar tudo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47304" y="2057400"/>
            <a:ext cx="3127248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400" b="0">
                <a:solidFill>
                  <a:srgbClr val="17343A"/>
                </a:solidFill>
                <a:latin typeface="Noto Sans"/>
              </a:defRPr>
            </a:pPr>
            <a:r>
              <a:t>16 células de código</a:t>
            </a:r>
            <a:br/>
            <a:r>
              <a:t>20 células de texto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18120" y="3319272"/>
            <a:ext cx="3767328" cy="2240280"/>
          </a:xfrm>
          <a:prstGeom prst="roundRect">
            <a:avLst/>
          </a:prstGeom>
          <a:solidFill>
            <a:srgbClr val="F06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29016" y="3584448"/>
            <a:ext cx="31546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000" b="1">
                <a:solidFill>
                  <a:srgbClr val="FFF8E8"/>
                </a:solidFill>
                <a:latin typeface="Noto Sans"/>
              </a:defRPr>
            </a:pPr>
            <a:r>
              <a:t>próximos passos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65592" y="4142232"/>
            <a:ext cx="3017520" cy="11704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8E8"/>
                </a:solidFill>
                <a:latin typeface="Noto Sans"/>
              </a:defRPr>
            </a:pPr>
            <a:r>
              <a:t>•  cruzar cronograma de obras</a:t>
            </a:r>
          </a:p>
          <a:p>
            <a:pPr>
              <a:spcAft>
                <a:spcPts val="600"/>
              </a:spcAft>
              <a:defRPr sz="1300">
                <a:solidFill>
                  <a:srgbClr val="FFF8E8"/>
                </a:solidFill>
                <a:latin typeface="Noto Sans"/>
              </a:defRPr>
            </a:pPr>
            <a:r>
              <a:t>•  coletar GPS por trecho</a:t>
            </a:r>
          </a:p>
          <a:p>
            <a:pPr>
              <a:spcAft>
                <a:spcPts val="600"/>
              </a:spcAft>
              <a:defRPr sz="1300">
                <a:solidFill>
                  <a:srgbClr val="FFF8E8"/>
                </a:solidFill>
                <a:latin typeface="Noto Sans"/>
              </a:defRPr>
            </a:pPr>
            <a:r>
              <a:t>•  testar desvio ou antecipação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5971032"/>
            <a:ext cx="27432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000" b="1">
                <a:solidFill>
                  <a:srgbClr val="005A67"/>
                </a:solidFill>
                <a:latin typeface="Noto Sans"/>
              </a:defRPr>
            </a:pPr>
            <a:r>
              <a:t>perguntas?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Rota em Dia · Transporte fretado</dc:title>
  <dc:subject>Projeto integrador de Fundamentos de IA e Programação</dc:subject>
  <dc:creator>Juliana Ballin Lima; Fernanda de Oliveira da Costa; Pedro Henrique Oliveira Dias</dc:creator>
  <cp:keywords>transporte fretado, análise de dados, pontualidade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